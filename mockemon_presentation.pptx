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69056"/>
            <a:ext cx="8229600" cy="11310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286000" y="457200"/>
            <a:ext cx="4572000" cy="1188720"/>
          </a:xfrm>
          <a:prstGeom prst="rect">
            <a:avLst/>
          </a:prstGeom>
          <a:ln w="12700">
            <a:miter lim="400000"/>
          </a:ln>
        </p:spPr>
      </p:pic>
      <p:sp>
        <p:nvSpPr>
          <p:cNvPr id="21" name="Text 0"/>
          <p:cNvSpPr txBox="1"/>
          <p:nvPr/>
        </p:nvSpPr>
        <p:spPr>
          <a:xfrm>
            <a:off x="960119" y="2067559"/>
            <a:ext cx="7223762" cy="802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t>Kan vi förutsäga en Mockemons typ</a:t>
            </a:r>
          </a:p>
          <a:p>
            <a:pPr algn="ctr">
              <a:defRPr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t>med supervised learning?</a:t>
            </a:r>
          </a:p>
        </p:txBody>
      </p:sp>
      <p:sp>
        <p:nvSpPr>
          <p:cNvPr id="22" name="Shape 1"/>
          <p:cNvSpPr/>
          <p:nvPr/>
        </p:nvSpPr>
        <p:spPr>
          <a:xfrm>
            <a:off x="2286000" y="3200400"/>
            <a:ext cx="4572001" cy="0"/>
          </a:xfrm>
          <a:prstGeom prst="line">
            <a:avLst/>
          </a:prstGeom>
          <a:ln w="25400">
            <a:solidFill>
              <a:srgbClr val="E2B71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" name="Text 2"/>
          <p:cNvSpPr txBox="1"/>
          <p:nvPr/>
        </p:nvSpPr>
        <p:spPr>
          <a:xfrm>
            <a:off x="960119" y="3553023"/>
            <a:ext cx="72237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Supervised learning</a:t>
            </a:r>
          </a:p>
        </p:txBody>
      </p:sp>
      <p:pic>
        <p:nvPicPr>
          <p:cNvPr id="24" name="Image 1" descr="Image 1"/>
          <p:cNvPicPr>
            <a:picLocks noChangeAspect="0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479920" y="4114800"/>
            <a:ext cx="2024001" cy="64008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 txBox="1"/>
          <p:nvPr/>
        </p:nvSpPr>
        <p:spPr>
          <a:xfrm>
            <a:off x="548640" y="327660"/>
            <a:ext cx="822960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6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Uppdraget</a:t>
            </a:r>
          </a:p>
        </p:txBody>
      </p:sp>
      <p:sp>
        <p:nvSpPr>
          <p:cNvPr id="27" name="Shape 1"/>
          <p:cNvSpPr/>
          <p:nvPr/>
        </p:nvSpPr>
        <p:spPr>
          <a:xfrm>
            <a:off x="548640" y="1097279"/>
            <a:ext cx="5029201" cy="347472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8" name="Shape 2"/>
          <p:cNvSpPr/>
          <p:nvPr/>
        </p:nvSpPr>
        <p:spPr>
          <a:xfrm>
            <a:off x="548640" y="1097279"/>
            <a:ext cx="64009" cy="3474722"/>
          </a:xfrm>
          <a:prstGeom prst="rect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" name="Text 3"/>
          <p:cNvSpPr txBox="1"/>
          <p:nvPr/>
        </p:nvSpPr>
        <p:spPr>
          <a:xfrm>
            <a:off x="914400" y="1280160"/>
            <a:ext cx="4389120" cy="23918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1600">
                <a:solidFill>
                  <a:srgbClr val="1A1A2E"/>
                </a:solidFill>
              </a:defRPr>
            </a:pPr>
            <a:r>
              <a:t>Neintindo har anlitat oss för att undersöka om Mockemon-karaktärernas egenskaper tydligt speglar vilken typ de tillhör.</a:t>
            </a:r>
          </a:p>
          <a:p>
            <a:pPr>
              <a:defRPr sz="1600"/>
            </a:pPr>
          </a:p>
          <a:p>
            <a:pPr>
              <a:defRPr sz="1400"/>
            </a:pPr>
            <a:r>
              <a:t>Vi ska analysera om statistik och visuell design är tillräckligt distinkta för att förutsäga typ med supervised learning.</a:t>
            </a:r>
            <a:endParaRPr sz="1600"/>
          </a:p>
          <a:p>
            <a:pPr>
              <a:defRPr sz="1600"/>
            </a:pPr>
          </a:p>
          <a:p>
            <a:pPr>
              <a:defRPr sz="1300"/>
            </a:pPr>
            <a:r>
              <a:t>Genom att kombinera tabellbaserade egenskaper med visuella bildegenskaper undersöker vi sambandet mellan en Mockemons egenskaper och dess typ.</a:t>
            </a:r>
          </a:p>
        </p:txBody>
      </p:sp>
      <p:sp>
        <p:nvSpPr>
          <p:cNvPr id="30" name="Shape 4"/>
          <p:cNvSpPr/>
          <p:nvPr/>
        </p:nvSpPr>
        <p:spPr>
          <a:xfrm>
            <a:off x="5852159" y="1097280"/>
            <a:ext cx="2926081" cy="1554481"/>
          </a:xfrm>
          <a:prstGeom prst="rect">
            <a:avLst/>
          </a:prstGeom>
          <a:solidFill>
            <a:srgbClr val="1A1A2E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1" name="Text 5"/>
          <p:cNvSpPr txBox="1"/>
          <p:nvPr/>
        </p:nvSpPr>
        <p:spPr>
          <a:xfrm>
            <a:off x="5852159" y="1346199"/>
            <a:ext cx="2926081" cy="71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algn="ctr">
              <a:defRPr b="1" sz="4800">
                <a:solidFill>
                  <a:srgbClr val="E2B714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1025</a:t>
            </a:r>
          </a:p>
        </p:txBody>
      </p:sp>
      <p:sp>
        <p:nvSpPr>
          <p:cNvPr id="32" name="Text 6"/>
          <p:cNvSpPr txBox="1"/>
          <p:nvPr/>
        </p:nvSpPr>
        <p:spPr>
          <a:xfrm>
            <a:off x="5897879" y="2103120"/>
            <a:ext cx="283464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300">
                <a:solidFill>
                  <a:srgbClr val="FFFFFF"/>
                </a:solidFill>
              </a:defRPr>
            </a:lvl1pPr>
          </a:lstStyle>
          <a:p>
            <a:pPr/>
            <a:r>
              <a:t>Mockemon i datasetet</a:t>
            </a:r>
          </a:p>
        </p:txBody>
      </p:sp>
      <p:sp>
        <p:nvSpPr>
          <p:cNvPr id="33" name="Shape 7"/>
          <p:cNvSpPr/>
          <p:nvPr/>
        </p:nvSpPr>
        <p:spPr>
          <a:xfrm>
            <a:off x="5852159" y="2880360"/>
            <a:ext cx="2926081" cy="1554481"/>
          </a:xfrm>
          <a:prstGeom prst="rect">
            <a:avLst/>
          </a:prstGeom>
          <a:solidFill>
            <a:srgbClr val="1A1A2E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4" name="Text 8"/>
          <p:cNvSpPr txBox="1"/>
          <p:nvPr/>
        </p:nvSpPr>
        <p:spPr>
          <a:xfrm>
            <a:off x="5852159" y="3129279"/>
            <a:ext cx="2926081" cy="71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algn="ctr">
              <a:defRPr b="1" sz="4800">
                <a:solidFill>
                  <a:srgbClr val="E2B714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18</a:t>
            </a:r>
          </a:p>
        </p:txBody>
      </p:sp>
      <p:sp>
        <p:nvSpPr>
          <p:cNvPr id="35" name="Text 9"/>
          <p:cNvSpPr txBox="1"/>
          <p:nvPr/>
        </p:nvSpPr>
        <p:spPr>
          <a:xfrm>
            <a:off x="5897879" y="3886199"/>
            <a:ext cx="283464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300">
                <a:solidFill>
                  <a:srgbClr val="FFFFFF"/>
                </a:solidFill>
              </a:defRPr>
            </a:lvl1pPr>
          </a:lstStyle>
          <a:p>
            <a:pPr/>
            <a:r>
              <a:t>unika typer att prediktera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0"/>
          <p:cNvSpPr txBox="1"/>
          <p:nvPr/>
        </p:nvSpPr>
        <p:spPr>
          <a:xfrm>
            <a:off x="548640" y="327660"/>
            <a:ext cx="822960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6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Datan vi fick</a:t>
            </a:r>
          </a:p>
        </p:txBody>
      </p:sp>
      <p:sp>
        <p:nvSpPr>
          <p:cNvPr id="38" name="Shape 1"/>
          <p:cNvSpPr/>
          <p:nvPr/>
        </p:nvSpPr>
        <p:spPr>
          <a:xfrm>
            <a:off x="548640" y="1097280"/>
            <a:ext cx="1920240" cy="237744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9" name="Shape 2"/>
          <p:cNvSpPr/>
          <p:nvPr/>
        </p:nvSpPr>
        <p:spPr>
          <a:xfrm>
            <a:off x="548640" y="1097280"/>
            <a:ext cx="1920240" cy="64009"/>
          </a:xfrm>
          <a:prstGeom prst="rect">
            <a:avLst/>
          </a:prstGeom>
          <a:solidFill>
            <a:srgbClr val="3D5AF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0" name="Text 3"/>
          <p:cNvSpPr txBox="1"/>
          <p:nvPr/>
        </p:nvSpPr>
        <p:spPr>
          <a:xfrm>
            <a:off x="731519" y="1280160"/>
            <a:ext cx="1554482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Battle Stats</a:t>
            </a:r>
          </a:p>
        </p:txBody>
      </p:sp>
      <p:sp>
        <p:nvSpPr>
          <p:cNvPr id="41" name="Text 4"/>
          <p:cNvSpPr txBox="1"/>
          <p:nvPr/>
        </p:nvSpPr>
        <p:spPr>
          <a:xfrm>
            <a:off x="731519" y="1828800"/>
            <a:ext cx="1554482" cy="8678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300"/>
            </a:pPr>
            <a:r>
              <a:t>HP, Attack, Defense,</a:t>
            </a:r>
          </a:p>
          <a:p>
            <a:pPr>
              <a:defRPr sz="1300"/>
            </a:pPr>
            <a:r>
              <a:t>Sp. Attack, Sp. Defense,</a:t>
            </a:r>
          </a:p>
          <a:p>
            <a:pPr>
              <a:defRPr sz="1300"/>
            </a:pPr>
            <a:r>
              <a:t>Speed</a:t>
            </a:r>
          </a:p>
        </p:txBody>
      </p:sp>
      <p:sp>
        <p:nvSpPr>
          <p:cNvPr id="42" name="Shape 5"/>
          <p:cNvSpPr/>
          <p:nvPr/>
        </p:nvSpPr>
        <p:spPr>
          <a:xfrm>
            <a:off x="2651760" y="1097280"/>
            <a:ext cx="1920241" cy="237744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3" name="Shape 6"/>
          <p:cNvSpPr/>
          <p:nvPr/>
        </p:nvSpPr>
        <p:spPr>
          <a:xfrm>
            <a:off x="2651760" y="1097280"/>
            <a:ext cx="1920241" cy="64009"/>
          </a:xfrm>
          <a:prstGeom prst="rect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4" name="Text 7"/>
          <p:cNvSpPr txBox="1"/>
          <p:nvPr/>
        </p:nvSpPr>
        <p:spPr>
          <a:xfrm>
            <a:off x="2834640" y="1280160"/>
            <a:ext cx="155448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Fysiska attribut</a:t>
            </a:r>
          </a:p>
        </p:txBody>
      </p:sp>
      <p:sp>
        <p:nvSpPr>
          <p:cNvPr id="45" name="Text 8"/>
          <p:cNvSpPr txBox="1"/>
          <p:nvPr/>
        </p:nvSpPr>
        <p:spPr>
          <a:xfrm>
            <a:off x="2834640" y="1828800"/>
            <a:ext cx="1554481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300"/>
            </a:pPr>
            <a:r>
              <a:t>Height, Weight,</a:t>
            </a:r>
          </a:p>
          <a:p>
            <a:pPr>
              <a:defRPr sz="1300"/>
            </a:pPr>
            <a:r>
              <a:t>Shape, Color</a:t>
            </a:r>
          </a:p>
        </p:txBody>
      </p:sp>
      <p:sp>
        <p:nvSpPr>
          <p:cNvPr id="46" name="Shape 9"/>
          <p:cNvSpPr/>
          <p:nvPr/>
        </p:nvSpPr>
        <p:spPr>
          <a:xfrm>
            <a:off x="4754879" y="1097280"/>
            <a:ext cx="1920241" cy="237744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7" name="Shape 10"/>
          <p:cNvSpPr/>
          <p:nvPr/>
        </p:nvSpPr>
        <p:spPr>
          <a:xfrm>
            <a:off x="4754879" y="1097280"/>
            <a:ext cx="1920241" cy="64009"/>
          </a:xfrm>
          <a:prstGeom prst="rect">
            <a:avLst/>
          </a:prstGeom>
          <a:solidFill>
            <a:srgbClr val="54A24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8" name="Text 11"/>
          <p:cNvSpPr txBox="1"/>
          <p:nvPr/>
        </p:nvSpPr>
        <p:spPr>
          <a:xfrm>
            <a:off x="4937760" y="1280160"/>
            <a:ext cx="155448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Ekologi</a:t>
            </a:r>
          </a:p>
        </p:txBody>
      </p:sp>
      <p:sp>
        <p:nvSpPr>
          <p:cNvPr id="49" name="Text 12"/>
          <p:cNvSpPr txBox="1"/>
          <p:nvPr/>
        </p:nvSpPr>
        <p:spPr>
          <a:xfrm>
            <a:off x="4937760" y="1828800"/>
            <a:ext cx="1554481" cy="6646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300"/>
            </a:pPr>
            <a:r>
              <a:t>Habitat, Growth Rate,</a:t>
            </a:r>
          </a:p>
          <a:p>
            <a:pPr>
              <a:defRPr sz="1300"/>
            </a:pPr>
            <a:r>
              <a:t>Egg Groups,</a:t>
            </a:r>
          </a:p>
          <a:p>
            <a:pPr>
              <a:defRPr sz="1300"/>
            </a:pPr>
            <a:r>
              <a:t>Capture Rate</a:t>
            </a:r>
          </a:p>
        </p:txBody>
      </p:sp>
      <p:sp>
        <p:nvSpPr>
          <p:cNvPr id="50" name="Shape 13"/>
          <p:cNvSpPr/>
          <p:nvPr/>
        </p:nvSpPr>
        <p:spPr>
          <a:xfrm>
            <a:off x="6858000" y="1097280"/>
            <a:ext cx="1920240" cy="237744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1" name="Shape 14"/>
          <p:cNvSpPr/>
          <p:nvPr/>
        </p:nvSpPr>
        <p:spPr>
          <a:xfrm>
            <a:off x="6858000" y="1097280"/>
            <a:ext cx="1920240" cy="64009"/>
          </a:xfrm>
          <a:prstGeom prst="rect">
            <a:avLst/>
          </a:prstGeom>
          <a:solidFill>
            <a:srgbClr val="F5851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2" name="Text 15"/>
          <p:cNvSpPr txBox="1"/>
          <p:nvPr/>
        </p:nvSpPr>
        <p:spPr>
          <a:xfrm>
            <a:off x="7040879" y="1280160"/>
            <a:ext cx="155448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Visuell design</a:t>
            </a:r>
          </a:p>
        </p:txBody>
      </p:sp>
      <p:sp>
        <p:nvSpPr>
          <p:cNvPr id="53" name="Text 16"/>
          <p:cNvSpPr txBox="1"/>
          <p:nvPr/>
        </p:nvSpPr>
        <p:spPr>
          <a:xfrm>
            <a:off x="7040879" y="1828800"/>
            <a:ext cx="1554481" cy="6646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300"/>
            </a:pPr>
            <a:r>
              <a:t>Sprite-bilder</a:t>
            </a:r>
          </a:p>
          <a:p>
            <a:pPr>
              <a:defRPr sz="1300"/>
            </a:pPr>
            <a:r>
              <a:t>(96×96 RGB)</a:t>
            </a:r>
          </a:p>
          <a:p>
            <a:pPr>
              <a:defRPr sz="1300"/>
            </a:pPr>
            <a:r>
              <a:t>per Mockemon</a:t>
            </a:r>
          </a:p>
        </p:txBody>
      </p:sp>
      <p:sp>
        <p:nvSpPr>
          <p:cNvPr id="54" name="Text 17"/>
          <p:cNvSpPr txBox="1"/>
          <p:nvPr/>
        </p:nvSpPr>
        <p:spPr>
          <a:xfrm>
            <a:off x="594360" y="3749040"/>
            <a:ext cx="7955279" cy="4388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64748B"/>
                </a:solidFill>
              </a:defRPr>
            </a:lvl1pPr>
          </a:lstStyle>
          <a:p>
            <a:pPr/>
            <a:r>
              <a:t>Rensning: median-fill för numeriska, "unknown" för kategoriska, dummy-kodning av color/shape/habitat/growth_rate → totalt 49 features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0"/>
          <p:cNvSpPr txBox="1"/>
          <p:nvPr/>
        </p:nvSpPr>
        <p:spPr>
          <a:xfrm>
            <a:off x="548640" y="327660"/>
            <a:ext cx="822960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6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Arbetsflöde</a:t>
            </a:r>
          </a:p>
        </p:txBody>
      </p:sp>
      <p:sp>
        <p:nvSpPr>
          <p:cNvPr id="57" name="Shape 1"/>
          <p:cNvSpPr/>
          <p:nvPr/>
        </p:nvSpPr>
        <p:spPr>
          <a:xfrm>
            <a:off x="731519" y="1280160"/>
            <a:ext cx="640081" cy="640081"/>
          </a:xfrm>
          <a:prstGeom prst="ellipse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8" name="Text 2"/>
          <p:cNvSpPr txBox="1"/>
          <p:nvPr/>
        </p:nvSpPr>
        <p:spPr>
          <a:xfrm>
            <a:off x="777239" y="1389380"/>
            <a:ext cx="54864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2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59" name="Text 3"/>
          <p:cNvSpPr txBox="1"/>
          <p:nvPr/>
        </p:nvSpPr>
        <p:spPr>
          <a:xfrm>
            <a:off x="411479" y="2057399"/>
            <a:ext cx="128016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Data</a:t>
            </a:r>
          </a:p>
        </p:txBody>
      </p:sp>
      <p:sp>
        <p:nvSpPr>
          <p:cNvPr id="60" name="Text 4"/>
          <p:cNvSpPr txBox="1"/>
          <p:nvPr/>
        </p:nvSpPr>
        <p:spPr>
          <a:xfrm>
            <a:off x="411479" y="2468879"/>
            <a:ext cx="1280161" cy="390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CSV med 1025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Mockemon + sprites</a:t>
            </a:r>
          </a:p>
        </p:txBody>
      </p:sp>
      <p:sp>
        <p:nvSpPr>
          <p:cNvPr id="61" name="Shape 5"/>
          <p:cNvSpPr/>
          <p:nvPr/>
        </p:nvSpPr>
        <p:spPr>
          <a:xfrm>
            <a:off x="1600200" y="1600200"/>
            <a:ext cx="457201" cy="0"/>
          </a:xfrm>
          <a:prstGeom prst="line">
            <a:avLst/>
          </a:prstGeom>
          <a:ln w="25400">
            <a:solidFill>
              <a:srgbClr val="E2B71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2" name="Shape 6"/>
          <p:cNvSpPr/>
          <p:nvPr/>
        </p:nvSpPr>
        <p:spPr>
          <a:xfrm>
            <a:off x="2194560" y="1280160"/>
            <a:ext cx="640081" cy="640081"/>
          </a:xfrm>
          <a:prstGeom prst="ellipse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3" name="Text 7"/>
          <p:cNvSpPr txBox="1"/>
          <p:nvPr/>
        </p:nvSpPr>
        <p:spPr>
          <a:xfrm>
            <a:off x="2240280" y="1389380"/>
            <a:ext cx="54864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2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64" name="Text 8"/>
          <p:cNvSpPr txBox="1"/>
          <p:nvPr/>
        </p:nvSpPr>
        <p:spPr>
          <a:xfrm>
            <a:off x="1874519" y="2057399"/>
            <a:ext cx="1280162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Rensning</a:t>
            </a:r>
          </a:p>
        </p:txBody>
      </p:sp>
      <p:sp>
        <p:nvSpPr>
          <p:cNvPr id="65" name="Text 9"/>
          <p:cNvSpPr txBox="1"/>
          <p:nvPr/>
        </p:nvSpPr>
        <p:spPr>
          <a:xfrm>
            <a:off x="1874519" y="2468879"/>
            <a:ext cx="1280162" cy="390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Saknade värden,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typkonvertering</a:t>
            </a:r>
          </a:p>
        </p:txBody>
      </p:sp>
      <p:sp>
        <p:nvSpPr>
          <p:cNvPr id="66" name="Shape 10"/>
          <p:cNvSpPr/>
          <p:nvPr/>
        </p:nvSpPr>
        <p:spPr>
          <a:xfrm>
            <a:off x="3063239" y="1600200"/>
            <a:ext cx="457201" cy="0"/>
          </a:xfrm>
          <a:prstGeom prst="line">
            <a:avLst/>
          </a:prstGeom>
          <a:ln w="25400">
            <a:solidFill>
              <a:srgbClr val="E2B71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7" name="Shape 11"/>
          <p:cNvSpPr/>
          <p:nvPr/>
        </p:nvSpPr>
        <p:spPr>
          <a:xfrm>
            <a:off x="3657599" y="1280160"/>
            <a:ext cx="640082" cy="640081"/>
          </a:xfrm>
          <a:prstGeom prst="ellipse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8" name="Text 12"/>
          <p:cNvSpPr txBox="1"/>
          <p:nvPr/>
        </p:nvSpPr>
        <p:spPr>
          <a:xfrm>
            <a:off x="3703319" y="1389380"/>
            <a:ext cx="548642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2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69" name="Text 13"/>
          <p:cNvSpPr txBox="1"/>
          <p:nvPr/>
        </p:nvSpPr>
        <p:spPr>
          <a:xfrm>
            <a:off x="3337560" y="2057399"/>
            <a:ext cx="128016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EDA</a:t>
            </a:r>
          </a:p>
        </p:txBody>
      </p:sp>
      <p:sp>
        <p:nvSpPr>
          <p:cNvPr id="70" name="Text 14"/>
          <p:cNvSpPr txBox="1"/>
          <p:nvPr/>
        </p:nvSpPr>
        <p:spPr>
          <a:xfrm>
            <a:off x="3337560" y="2468879"/>
            <a:ext cx="1280161" cy="390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Fördelningar,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korrelationer</a:t>
            </a:r>
          </a:p>
        </p:txBody>
      </p:sp>
      <p:sp>
        <p:nvSpPr>
          <p:cNvPr id="71" name="Shape 15"/>
          <p:cNvSpPr/>
          <p:nvPr/>
        </p:nvSpPr>
        <p:spPr>
          <a:xfrm>
            <a:off x="4526279" y="1600200"/>
            <a:ext cx="457201" cy="0"/>
          </a:xfrm>
          <a:prstGeom prst="line">
            <a:avLst/>
          </a:prstGeom>
          <a:ln w="25400">
            <a:solidFill>
              <a:srgbClr val="E2B71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" name="Shape 16"/>
          <p:cNvSpPr/>
          <p:nvPr/>
        </p:nvSpPr>
        <p:spPr>
          <a:xfrm>
            <a:off x="5120640" y="1280160"/>
            <a:ext cx="640081" cy="640081"/>
          </a:xfrm>
          <a:prstGeom prst="ellipse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3" name="Text 17"/>
          <p:cNvSpPr txBox="1"/>
          <p:nvPr/>
        </p:nvSpPr>
        <p:spPr>
          <a:xfrm>
            <a:off x="5166360" y="1389380"/>
            <a:ext cx="54864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2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74" name="Text 18"/>
          <p:cNvSpPr txBox="1"/>
          <p:nvPr/>
        </p:nvSpPr>
        <p:spPr>
          <a:xfrm>
            <a:off x="4800599" y="2057399"/>
            <a:ext cx="128016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Features</a:t>
            </a:r>
          </a:p>
        </p:txBody>
      </p:sp>
      <p:sp>
        <p:nvSpPr>
          <p:cNvPr id="75" name="Text 19"/>
          <p:cNvSpPr txBox="1"/>
          <p:nvPr/>
        </p:nvSpPr>
        <p:spPr>
          <a:xfrm>
            <a:off x="4800599" y="2468879"/>
            <a:ext cx="1280161" cy="390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Dummy-kodning,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PCA (tabell + bild)</a:t>
            </a:r>
          </a:p>
        </p:txBody>
      </p:sp>
      <p:sp>
        <p:nvSpPr>
          <p:cNvPr id="76" name="Shape 20"/>
          <p:cNvSpPr/>
          <p:nvPr/>
        </p:nvSpPr>
        <p:spPr>
          <a:xfrm>
            <a:off x="5989320" y="1600200"/>
            <a:ext cx="457201" cy="0"/>
          </a:xfrm>
          <a:prstGeom prst="line">
            <a:avLst/>
          </a:prstGeom>
          <a:ln w="25400">
            <a:solidFill>
              <a:srgbClr val="E2B71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7" name="Shape 21"/>
          <p:cNvSpPr/>
          <p:nvPr/>
        </p:nvSpPr>
        <p:spPr>
          <a:xfrm>
            <a:off x="6583680" y="1280160"/>
            <a:ext cx="640081" cy="640081"/>
          </a:xfrm>
          <a:prstGeom prst="ellipse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8" name="Text 22"/>
          <p:cNvSpPr txBox="1"/>
          <p:nvPr/>
        </p:nvSpPr>
        <p:spPr>
          <a:xfrm>
            <a:off x="6629400" y="1389380"/>
            <a:ext cx="54864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2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79" name="Text 23"/>
          <p:cNvSpPr txBox="1"/>
          <p:nvPr/>
        </p:nvSpPr>
        <p:spPr>
          <a:xfrm>
            <a:off x="6263640" y="2057399"/>
            <a:ext cx="128016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Träning</a:t>
            </a:r>
          </a:p>
        </p:txBody>
      </p:sp>
      <p:sp>
        <p:nvSpPr>
          <p:cNvPr id="80" name="Text 24"/>
          <p:cNvSpPr txBox="1"/>
          <p:nvPr/>
        </p:nvSpPr>
        <p:spPr>
          <a:xfrm>
            <a:off x="6263640" y="2468879"/>
            <a:ext cx="1280161" cy="390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LogReg, XGBoost,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Random Forest</a:t>
            </a:r>
          </a:p>
        </p:txBody>
      </p:sp>
      <p:sp>
        <p:nvSpPr>
          <p:cNvPr id="81" name="Shape 25"/>
          <p:cNvSpPr/>
          <p:nvPr/>
        </p:nvSpPr>
        <p:spPr>
          <a:xfrm>
            <a:off x="7452359" y="1600200"/>
            <a:ext cx="457201" cy="0"/>
          </a:xfrm>
          <a:prstGeom prst="line">
            <a:avLst/>
          </a:prstGeom>
          <a:ln w="25400">
            <a:solidFill>
              <a:srgbClr val="E2B71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2" name="Shape 26"/>
          <p:cNvSpPr/>
          <p:nvPr/>
        </p:nvSpPr>
        <p:spPr>
          <a:xfrm>
            <a:off x="8046719" y="1280160"/>
            <a:ext cx="640081" cy="640081"/>
          </a:xfrm>
          <a:prstGeom prst="ellipse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3" name="Text 27"/>
          <p:cNvSpPr txBox="1"/>
          <p:nvPr/>
        </p:nvSpPr>
        <p:spPr>
          <a:xfrm>
            <a:off x="8092439" y="1389380"/>
            <a:ext cx="54864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2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84" name="Text 28"/>
          <p:cNvSpPr txBox="1"/>
          <p:nvPr/>
        </p:nvSpPr>
        <p:spPr>
          <a:xfrm>
            <a:off x="7726679" y="2057399"/>
            <a:ext cx="128016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Resultat</a:t>
            </a:r>
          </a:p>
        </p:txBody>
      </p:sp>
      <p:sp>
        <p:nvSpPr>
          <p:cNvPr id="85" name="Text 29"/>
          <p:cNvSpPr txBox="1"/>
          <p:nvPr/>
        </p:nvSpPr>
        <p:spPr>
          <a:xfrm>
            <a:off x="7726679" y="2468879"/>
            <a:ext cx="1280161" cy="390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Accuracy, F1,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Confusion Matrix</a:t>
            </a:r>
          </a:p>
        </p:txBody>
      </p:sp>
      <p:sp>
        <p:nvSpPr>
          <p:cNvPr id="86" name="Text 30"/>
          <p:cNvSpPr txBox="1"/>
          <p:nvPr/>
        </p:nvSpPr>
        <p:spPr>
          <a:xfrm>
            <a:off x="594360" y="3327400"/>
            <a:ext cx="813816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E2B714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Tre experimentgrupper:</a:t>
            </a:r>
          </a:p>
        </p:txBody>
      </p:sp>
      <p:sp>
        <p:nvSpPr>
          <p:cNvPr id="87" name="Shape 31"/>
          <p:cNvSpPr/>
          <p:nvPr/>
        </p:nvSpPr>
        <p:spPr>
          <a:xfrm>
            <a:off x="548640" y="3749040"/>
            <a:ext cx="2606040" cy="822961"/>
          </a:xfrm>
          <a:prstGeom prst="rect">
            <a:avLst/>
          </a:prstGeom>
          <a:solidFill>
            <a:srgbClr val="16213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8" name="Shape 32"/>
          <p:cNvSpPr/>
          <p:nvPr/>
        </p:nvSpPr>
        <p:spPr>
          <a:xfrm>
            <a:off x="548640" y="3749040"/>
            <a:ext cx="54865" cy="822961"/>
          </a:xfrm>
          <a:prstGeom prst="rect">
            <a:avLst/>
          </a:prstGeom>
          <a:solidFill>
            <a:srgbClr val="3D5AF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9" name="Text 33"/>
          <p:cNvSpPr txBox="1"/>
          <p:nvPr/>
        </p:nvSpPr>
        <p:spPr>
          <a:xfrm>
            <a:off x="777239" y="3836669"/>
            <a:ext cx="2194561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Enbart tabelldata</a:t>
            </a:r>
          </a:p>
        </p:txBody>
      </p:sp>
      <p:sp>
        <p:nvSpPr>
          <p:cNvPr id="90" name="Text 34"/>
          <p:cNvSpPr txBox="1"/>
          <p:nvPr/>
        </p:nvSpPr>
        <p:spPr>
          <a:xfrm>
            <a:off x="777239" y="4207686"/>
            <a:ext cx="219456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FFFFFF"/>
                </a:solidFill>
              </a:defRPr>
            </a:lvl1pPr>
          </a:lstStyle>
          <a:p>
            <a:pPr/>
            <a:r>
              <a:t>Stats + kategoriska features</a:t>
            </a:r>
          </a:p>
        </p:txBody>
      </p:sp>
      <p:sp>
        <p:nvSpPr>
          <p:cNvPr id="91" name="Shape 35"/>
          <p:cNvSpPr/>
          <p:nvPr/>
        </p:nvSpPr>
        <p:spPr>
          <a:xfrm>
            <a:off x="3383279" y="3749040"/>
            <a:ext cx="2606041" cy="822961"/>
          </a:xfrm>
          <a:prstGeom prst="rect">
            <a:avLst/>
          </a:prstGeom>
          <a:solidFill>
            <a:srgbClr val="16213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2" name="Shape 36"/>
          <p:cNvSpPr/>
          <p:nvPr/>
        </p:nvSpPr>
        <p:spPr>
          <a:xfrm>
            <a:off x="3383279" y="3749040"/>
            <a:ext cx="54865" cy="822961"/>
          </a:xfrm>
          <a:prstGeom prst="rect">
            <a:avLst/>
          </a:prstGeom>
          <a:solidFill>
            <a:srgbClr val="F5851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3" name="Text 37"/>
          <p:cNvSpPr txBox="1"/>
          <p:nvPr/>
        </p:nvSpPr>
        <p:spPr>
          <a:xfrm>
            <a:off x="3611879" y="3836669"/>
            <a:ext cx="2194561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Tabell + bilder</a:t>
            </a:r>
          </a:p>
        </p:txBody>
      </p:sp>
      <p:sp>
        <p:nvSpPr>
          <p:cNvPr id="94" name="Text 38"/>
          <p:cNvSpPr txBox="1"/>
          <p:nvPr/>
        </p:nvSpPr>
        <p:spPr>
          <a:xfrm>
            <a:off x="3611879" y="4207686"/>
            <a:ext cx="219456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FFFFFF"/>
                </a:solidFill>
              </a:defRPr>
            </a:lvl1pPr>
          </a:lstStyle>
          <a:p>
            <a:pPr/>
            <a:r>
              <a:t>Stats + PCA-komprimerade sprites</a:t>
            </a:r>
          </a:p>
        </p:txBody>
      </p:sp>
      <p:sp>
        <p:nvSpPr>
          <p:cNvPr id="95" name="Shape 39"/>
          <p:cNvSpPr/>
          <p:nvPr/>
        </p:nvSpPr>
        <p:spPr>
          <a:xfrm>
            <a:off x="6217920" y="3749040"/>
            <a:ext cx="2606041" cy="822961"/>
          </a:xfrm>
          <a:prstGeom prst="rect">
            <a:avLst/>
          </a:prstGeom>
          <a:solidFill>
            <a:srgbClr val="16213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6" name="Shape 40"/>
          <p:cNvSpPr/>
          <p:nvPr/>
        </p:nvSpPr>
        <p:spPr>
          <a:xfrm>
            <a:off x="6217920" y="3749040"/>
            <a:ext cx="54865" cy="822961"/>
          </a:xfrm>
          <a:prstGeom prst="rect">
            <a:avLst/>
          </a:prstGeom>
          <a:solidFill>
            <a:srgbClr val="E4575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7" name="Text 41"/>
          <p:cNvSpPr txBox="1"/>
          <p:nvPr/>
        </p:nvSpPr>
        <p:spPr>
          <a:xfrm>
            <a:off x="6446519" y="3836669"/>
            <a:ext cx="2194562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Enbart bilder</a:t>
            </a:r>
          </a:p>
        </p:txBody>
      </p:sp>
      <p:sp>
        <p:nvSpPr>
          <p:cNvPr id="98" name="Text 42"/>
          <p:cNvSpPr txBox="1"/>
          <p:nvPr/>
        </p:nvSpPr>
        <p:spPr>
          <a:xfrm>
            <a:off x="6446519" y="4207686"/>
            <a:ext cx="21945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FFFFFF"/>
                </a:solidFill>
              </a:defRPr>
            </a:lvl1pPr>
          </a:lstStyle>
          <a:p>
            <a:pPr/>
            <a:r>
              <a:t>Bara sprite-pixlar (PCA)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 0"/>
          <p:cNvSpPr txBox="1"/>
          <p:nvPr/>
        </p:nvSpPr>
        <p:spPr>
          <a:xfrm>
            <a:off x="548640" y="327660"/>
            <a:ext cx="822960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6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Klassbalans — målvariabel</a:t>
            </a:r>
          </a:p>
        </p:txBody>
      </p:sp>
      <p:pic>
        <p:nvPicPr>
          <p:cNvPr id="10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74320" y="1005839"/>
            <a:ext cx="5029201" cy="3657601"/>
          </a:xfrm>
          <a:prstGeom prst="rect">
            <a:avLst/>
          </a:prstGeom>
          <a:ln w="12700">
            <a:miter lim="400000"/>
          </a:ln>
        </p:spPr>
      </p:pic>
      <p:sp>
        <p:nvSpPr>
          <p:cNvPr id="102" name="Shape 1"/>
          <p:cNvSpPr/>
          <p:nvPr/>
        </p:nvSpPr>
        <p:spPr>
          <a:xfrm>
            <a:off x="5577840" y="1005839"/>
            <a:ext cx="3291841" cy="36576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03" name="Shape 2"/>
          <p:cNvSpPr/>
          <p:nvPr/>
        </p:nvSpPr>
        <p:spPr>
          <a:xfrm>
            <a:off x="5577840" y="1005839"/>
            <a:ext cx="54865" cy="3657601"/>
          </a:xfrm>
          <a:prstGeom prst="rect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4" name="Text 3"/>
          <p:cNvSpPr txBox="1"/>
          <p:nvPr/>
        </p:nvSpPr>
        <p:spPr>
          <a:xfrm>
            <a:off x="5897879" y="1188719"/>
            <a:ext cx="2743201" cy="2750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1600">
                <a:solidFill>
                  <a:srgbClr val="1A1A2E"/>
                </a:solidFill>
              </a:defRPr>
            </a:pPr>
            <a:r>
              <a:t>Observationer</a:t>
            </a:r>
          </a:p>
          <a:p>
            <a:pPr>
              <a:defRPr sz="1600"/>
            </a:pPr>
          </a:p>
          <a:p>
            <a:pPr>
              <a:defRPr sz="1300"/>
            </a:pPr>
            <a:r>
              <a:t>Water dominerar med ~130 st, medan Flying bara har ~4.</a:t>
            </a:r>
            <a:endParaRPr sz="1600"/>
          </a:p>
          <a:p>
            <a:pPr>
              <a:defRPr sz="1600"/>
            </a:pPr>
          </a:p>
          <a:p>
            <a:pPr>
              <a:defRPr b="1" sz="1300">
                <a:solidFill>
                  <a:srgbClr val="1A1A2E"/>
                </a:solidFill>
              </a:defRPr>
            </a:pPr>
            <a:r>
              <a:t>Stor obalans i klasserna </a:t>
            </a:r>
            <a:r>
              <a:rPr b="0">
                <a:solidFill>
                  <a:srgbClr val="000000"/>
                </a:solidFill>
              </a:rPr>
              <a:t>gör det svårt att förutsäga ovanliga typer.</a:t>
            </a:r>
            <a:endParaRPr sz="1600"/>
          </a:p>
          <a:p>
            <a:pPr>
              <a:defRPr sz="1600"/>
            </a:pPr>
          </a:p>
          <a:p>
            <a:pPr>
              <a:defRPr sz="1300">
                <a:solidFill>
                  <a:srgbClr val="64748B"/>
                </a:solidFill>
              </a:defRPr>
            </a:pPr>
            <a:r>
              <a:rPr>
                <a:solidFill>
                  <a:srgbClr val="000000"/>
                </a:solidFill>
              </a:rPr>
              <a:t>Slumpchans:</a:t>
            </a:r>
            <a:r>
              <a:t> </a:t>
            </a:r>
            <a:r>
              <a:rPr b="1" sz="1500">
                <a:solidFill>
                  <a:srgbClr val="3D5AF1"/>
                </a:solidFill>
              </a:rPr>
              <a:t>~5.6%</a:t>
            </a:r>
            <a:r>
              <a:t> </a:t>
            </a:r>
            <a:r>
              <a:rPr>
                <a:solidFill>
                  <a:srgbClr val="000000"/>
                </a:solidFill>
              </a:rPr>
              <a:t>(1/18)</a:t>
            </a:r>
            <a:endParaRPr sz="1600"/>
          </a:p>
          <a:p>
            <a:pPr>
              <a:defRPr sz="1600"/>
            </a:pPr>
          </a:p>
          <a:p>
            <a:pPr>
              <a:defRPr sz="1200"/>
            </a:pPr>
            <a:r>
              <a:t>Vi använder balanced accuracy och macro F1 för rättvis jämförelse.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/>
          <p:cNvSpPr txBox="1"/>
          <p:nvPr/>
        </p:nvSpPr>
        <p:spPr>
          <a:xfrm>
            <a:off x="548640" y="327660"/>
            <a:ext cx="822960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6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EDA — Korrelationer</a:t>
            </a:r>
          </a:p>
        </p:txBody>
      </p:sp>
      <p:pic>
        <p:nvPicPr>
          <p:cNvPr id="107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57200" y="1005839"/>
            <a:ext cx="5029200" cy="3840481"/>
          </a:xfrm>
          <a:prstGeom prst="rect">
            <a:avLst/>
          </a:prstGeom>
          <a:ln w="12700">
            <a:miter lim="400000"/>
          </a:ln>
        </p:spPr>
      </p:pic>
      <p:sp>
        <p:nvSpPr>
          <p:cNvPr id="108" name="Shape 1"/>
          <p:cNvSpPr/>
          <p:nvPr/>
        </p:nvSpPr>
        <p:spPr>
          <a:xfrm>
            <a:off x="5760720" y="1005840"/>
            <a:ext cx="3108961" cy="384048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09" name="Shape 2"/>
          <p:cNvSpPr/>
          <p:nvPr/>
        </p:nvSpPr>
        <p:spPr>
          <a:xfrm>
            <a:off x="5760720" y="1005840"/>
            <a:ext cx="54865" cy="3840480"/>
          </a:xfrm>
          <a:prstGeom prst="rect">
            <a:avLst/>
          </a:prstGeom>
          <a:solidFill>
            <a:srgbClr val="3D5AF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0" name="Text 3"/>
          <p:cNvSpPr txBox="1"/>
          <p:nvPr/>
        </p:nvSpPr>
        <p:spPr>
          <a:xfrm>
            <a:off x="6080760" y="1188719"/>
            <a:ext cx="2560321" cy="3131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1600">
                <a:solidFill>
                  <a:srgbClr val="1A1A2E"/>
                </a:solidFill>
              </a:defRPr>
            </a:pPr>
            <a:r>
              <a:t>Insikter</a:t>
            </a:r>
          </a:p>
          <a:p>
            <a:pPr>
              <a:defRPr sz="1600"/>
            </a:pPr>
          </a:p>
          <a:p>
            <a:pPr>
              <a:defRPr sz="1300"/>
            </a:pPr>
            <a:r>
              <a:t>Sp. Attack och Sp. Defense korrelerar starkt (0.52).</a:t>
            </a:r>
            <a:endParaRPr sz="1600"/>
          </a:p>
          <a:p>
            <a:pPr>
              <a:defRPr sz="1600"/>
            </a:pPr>
          </a:p>
          <a:p>
            <a:pPr>
              <a:defRPr sz="1300"/>
            </a:pPr>
            <a:r>
              <a:t>Battle stats varierar mellan typer men överlappar kraftigt.</a:t>
            </a:r>
            <a:endParaRPr sz="1600"/>
          </a:p>
          <a:p>
            <a:pPr>
              <a:defRPr sz="1600"/>
            </a:pPr>
          </a:p>
          <a:p>
            <a:pPr>
              <a:defRPr b="1" sz="1300">
                <a:solidFill>
                  <a:srgbClr val="1A1A2E"/>
                </a:solidFill>
              </a:defRPr>
            </a:pPr>
            <a:r>
              <a:t>Ingen enskild stat räcker </a:t>
            </a:r>
            <a:r>
              <a:rPr b="0">
                <a:solidFill>
                  <a:srgbClr val="000000"/>
                </a:solidFill>
              </a:rPr>
              <a:t>för att särskilja typerna — därför behövs kombinationer av features.</a:t>
            </a:r>
            <a:endParaRPr sz="1600"/>
          </a:p>
          <a:p>
            <a:pPr>
              <a:defRPr sz="1600"/>
            </a:pPr>
          </a:p>
          <a:p>
            <a:pPr>
              <a:defRPr sz="1200"/>
            </a:pPr>
            <a:r>
              <a:t>Height och weight korrelerar starkt (0.63) — fysisk storlek hänger ihop.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0"/>
          <p:cNvSpPr txBox="1"/>
          <p:nvPr/>
        </p:nvSpPr>
        <p:spPr>
          <a:xfrm>
            <a:off x="548640" y="327660"/>
            <a:ext cx="822960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6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Resultat — bästa modellerna</a:t>
            </a:r>
          </a:p>
        </p:txBody>
      </p:sp>
      <p:sp>
        <p:nvSpPr>
          <p:cNvPr id="113" name="Shape 1"/>
          <p:cNvSpPr/>
          <p:nvPr/>
        </p:nvSpPr>
        <p:spPr>
          <a:xfrm>
            <a:off x="548640" y="1097279"/>
            <a:ext cx="2606040" cy="356616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14" name="Shape 2"/>
          <p:cNvSpPr/>
          <p:nvPr/>
        </p:nvSpPr>
        <p:spPr>
          <a:xfrm>
            <a:off x="548640" y="1097280"/>
            <a:ext cx="2606040" cy="64009"/>
          </a:xfrm>
          <a:prstGeom prst="rect">
            <a:avLst/>
          </a:prstGeom>
          <a:solidFill>
            <a:srgbClr val="3D5AF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5" name="Text 3"/>
          <p:cNvSpPr txBox="1"/>
          <p:nvPr/>
        </p:nvSpPr>
        <p:spPr>
          <a:xfrm>
            <a:off x="731519" y="1342390"/>
            <a:ext cx="2240282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6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LogReg (PCA)</a:t>
            </a:r>
          </a:p>
        </p:txBody>
      </p:sp>
      <p:sp>
        <p:nvSpPr>
          <p:cNvPr id="116" name="Text 4"/>
          <p:cNvSpPr txBox="1"/>
          <p:nvPr/>
        </p:nvSpPr>
        <p:spPr>
          <a:xfrm>
            <a:off x="685799" y="1889759"/>
            <a:ext cx="2331722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4200">
                <a:solidFill>
                  <a:srgbClr val="3D5AF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48.8%</a:t>
            </a:r>
          </a:p>
        </p:txBody>
      </p:sp>
      <p:sp>
        <p:nvSpPr>
          <p:cNvPr id="117" name="Text 5"/>
          <p:cNvSpPr txBox="1"/>
          <p:nvPr/>
        </p:nvSpPr>
        <p:spPr>
          <a:xfrm>
            <a:off x="731519" y="2527607"/>
            <a:ext cx="2240282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64748B"/>
                </a:solidFill>
              </a:defRPr>
            </a:lvl1pPr>
          </a:lstStyle>
          <a:p>
            <a:pPr/>
            <a:r>
              <a:t>accuracy</a:t>
            </a:r>
          </a:p>
        </p:txBody>
      </p:sp>
      <p:sp>
        <p:nvSpPr>
          <p:cNvPr id="118" name="Text 6"/>
          <p:cNvSpPr txBox="1"/>
          <p:nvPr/>
        </p:nvSpPr>
        <p:spPr>
          <a:xfrm>
            <a:off x="731519" y="3050978"/>
            <a:ext cx="2240282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sz="1300"/>
            </a:pPr>
            <a:r>
              <a:t>Balanced Acc: </a:t>
            </a:r>
            <a:r>
              <a:rPr b="1"/>
              <a:t>40.5%</a:t>
            </a:r>
          </a:p>
          <a:p>
            <a:pPr algn="ctr">
              <a:defRPr sz="1300"/>
            </a:pPr>
          </a:p>
          <a:p>
            <a:pPr algn="ctr">
              <a:defRPr sz="1300"/>
            </a:pPr>
            <a:r>
              <a:t>Macro F1: </a:t>
            </a:r>
            <a:r>
              <a:rPr b="1"/>
              <a:t>0.404</a:t>
            </a:r>
          </a:p>
        </p:txBody>
      </p:sp>
      <p:sp>
        <p:nvSpPr>
          <p:cNvPr id="119" name="Text 7"/>
          <p:cNvSpPr txBox="1"/>
          <p:nvPr/>
        </p:nvSpPr>
        <p:spPr>
          <a:xfrm>
            <a:off x="731519" y="4025900"/>
            <a:ext cx="2240282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3D5AF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Bäst accuracy (delad)</a:t>
            </a:r>
          </a:p>
        </p:txBody>
      </p:sp>
      <p:sp>
        <p:nvSpPr>
          <p:cNvPr id="120" name="Shape 8"/>
          <p:cNvSpPr/>
          <p:nvPr/>
        </p:nvSpPr>
        <p:spPr>
          <a:xfrm>
            <a:off x="3383279" y="1097279"/>
            <a:ext cx="2606041" cy="356616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21" name="Shape 9"/>
          <p:cNvSpPr/>
          <p:nvPr/>
        </p:nvSpPr>
        <p:spPr>
          <a:xfrm>
            <a:off x="3383279" y="1097280"/>
            <a:ext cx="2606041" cy="64009"/>
          </a:xfrm>
          <a:prstGeom prst="rect">
            <a:avLst/>
          </a:prstGeom>
          <a:solidFill>
            <a:srgbClr val="54A24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2" name="Text 10"/>
          <p:cNvSpPr txBox="1"/>
          <p:nvPr/>
        </p:nvSpPr>
        <p:spPr>
          <a:xfrm>
            <a:off x="3566160" y="1342390"/>
            <a:ext cx="2240281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6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Random Forest</a:t>
            </a:r>
          </a:p>
        </p:txBody>
      </p:sp>
      <p:sp>
        <p:nvSpPr>
          <p:cNvPr id="123" name="Text 11"/>
          <p:cNvSpPr txBox="1"/>
          <p:nvPr/>
        </p:nvSpPr>
        <p:spPr>
          <a:xfrm>
            <a:off x="3520440" y="1889759"/>
            <a:ext cx="2331721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4200">
                <a:solidFill>
                  <a:srgbClr val="54A24B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48.8%</a:t>
            </a:r>
          </a:p>
        </p:txBody>
      </p:sp>
      <p:sp>
        <p:nvSpPr>
          <p:cNvPr id="124" name="Text 12"/>
          <p:cNvSpPr txBox="1"/>
          <p:nvPr/>
        </p:nvSpPr>
        <p:spPr>
          <a:xfrm>
            <a:off x="3566160" y="2527607"/>
            <a:ext cx="224028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64748B"/>
                </a:solidFill>
              </a:defRPr>
            </a:lvl1pPr>
          </a:lstStyle>
          <a:p>
            <a:pPr/>
            <a:r>
              <a:t>accuracy</a:t>
            </a:r>
          </a:p>
        </p:txBody>
      </p:sp>
      <p:sp>
        <p:nvSpPr>
          <p:cNvPr id="125" name="Text 13"/>
          <p:cNvSpPr txBox="1"/>
          <p:nvPr/>
        </p:nvSpPr>
        <p:spPr>
          <a:xfrm>
            <a:off x="3566160" y="3050978"/>
            <a:ext cx="2240281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sz="1300"/>
            </a:pPr>
            <a:r>
              <a:t>Balanced Acc: </a:t>
            </a:r>
            <a:r>
              <a:rPr b="1"/>
              <a:t>37.8%</a:t>
            </a:r>
          </a:p>
          <a:p>
            <a:pPr algn="ctr">
              <a:defRPr sz="1300"/>
            </a:pPr>
          </a:p>
          <a:p>
            <a:pPr algn="ctr">
              <a:defRPr sz="1300"/>
            </a:pPr>
            <a:r>
              <a:t>Macro F1: </a:t>
            </a:r>
            <a:r>
              <a:rPr b="1"/>
              <a:t>0.365</a:t>
            </a:r>
          </a:p>
        </p:txBody>
      </p:sp>
      <p:sp>
        <p:nvSpPr>
          <p:cNvPr id="126" name="Text 14"/>
          <p:cNvSpPr txBox="1"/>
          <p:nvPr/>
        </p:nvSpPr>
        <p:spPr>
          <a:xfrm>
            <a:off x="3566160" y="4025900"/>
            <a:ext cx="224028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54A24B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Bäst accuracy (delad)</a:t>
            </a:r>
          </a:p>
        </p:txBody>
      </p:sp>
      <p:sp>
        <p:nvSpPr>
          <p:cNvPr id="127" name="Shape 15"/>
          <p:cNvSpPr/>
          <p:nvPr/>
        </p:nvSpPr>
        <p:spPr>
          <a:xfrm>
            <a:off x="6217920" y="1097279"/>
            <a:ext cx="2606041" cy="356616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28" name="Shape 16"/>
          <p:cNvSpPr/>
          <p:nvPr/>
        </p:nvSpPr>
        <p:spPr>
          <a:xfrm>
            <a:off x="6217920" y="1097280"/>
            <a:ext cx="2606041" cy="64009"/>
          </a:xfrm>
          <a:prstGeom prst="rect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9" name="Text 17"/>
          <p:cNvSpPr txBox="1"/>
          <p:nvPr/>
        </p:nvSpPr>
        <p:spPr>
          <a:xfrm>
            <a:off x="6400799" y="1342390"/>
            <a:ext cx="2240281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6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XGBoost stripped</a:t>
            </a:r>
          </a:p>
        </p:txBody>
      </p:sp>
      <p:sp>
        <p:nvSpPr>
          <p:cNvPr id="130" name="Text 18"/>
          <p:cNvSpPr txBox="1"/>
          <p:nvPr/>
        </p:nvSpPr>
        <p:spPr>
          <a:xfrm>
            <a:off x="6355079" y="1889759"/>
            <a:ext cx="2331721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4200">
                <a:solidFill>
                  <a:srgbClr val="E2B714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44.4%</a:t>
            </a:r>
          </a:p>
        </p:txBody>
      </p:sp>
      <p:sp>
        <p:nvSpPr>
          <p:cNvPr id="131" name="Text 19"/>
          <p:cNvSpPr txBox="1"/>
          <p:nvPr/>
        </p:nvSpPr>
        <p:spPr>
          <a:xfrm>
            <a:off x="6400799" y="2527607"/>
            <a:ext cx="224028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64748B"/>
                </a:solidFill>
              </a:defRPr>
            </a:lvl1pPr>
          </a:lstStyle>
          <a:p>
            <a:pPr/>
            <a:r>
              <a:t>accuracy</a:t>
            </a:r>
          </a:p>
        </p:txBody>
      </p:sp>
      <p:sp>
        <p:nvSpPr>
          <p:cNvPr id="132" name="Text 20"/>
          <p:cNvSpPr txBox="1"/>
          <p:nvPr/>
        </p:nvSpPr>
        <p:spPr>
          <a:xfrm>
            <a:off x="6400799" y="3050978"/>
            <a:ext cx="2240281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sz="1300"/>
            </a:pPr>
            <a:r>
              <a:t>Balanced Acc: </a:t>
            </a:r>
            <a:r>
              <a:rPr b="1"/>
              <a:t>42.0%</a:t>
            </a:r>
          </a:p>
          <a:p>
            <a:pPr algn="ctr">
              <a:defRPr sz="1300"/>
            </a:pPr>
          </a:p>
          <a:p>
            <a:pPr algn="ctr">
              <a:defRPr sz="1300"/>
            </a:pPr>
            <a:r>
              <a:t>Macro F1: </a:t>
            </a:r>
            <a:r>
              <a:rPr b="1"/>
              <a:t>0.404</a:t>
            </a:r>
          </a:p>
        </p:txBody>
      </p:sp>
      <p:sp>
        <p:nvSpPr>
          <p:cNvPr id="133" name="Text 21"/>
          <p:cNvSpPr txBox="1"/>
          <p:nvPr/>
        </p:nvSpPr>
        <p:spPr>
          <a:xfrm>
            <a:off x="6400799" y="4025900"/>
            <a:ext cx="224028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E2B714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Bäst balanced accuracy!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 0"/>
          <p:cNvSpPr txBox="1"/>
          <p:nvPr/>
        </p:nvSpPr>
        <p:spPr>
          <a:xfrm>
            <a:off x="548640" y="326389"/>
            <a:ext cx="8229601" cy="44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Random Forest — detaljer</a:t>
            </a:r>
          </a:p>
        </p:txBody>
      </p:sp>
      <p:sp>
        <p:nvSpPr>
          <p:cNvPr id="136" name="Text 1"/>
          <p:cNvSpPr txBox="1"/>
          <p:nvPr/>
        </p:nvSpPr>
        <p:spPr>
          <a:xfrm>
            <a:off x="502919" y="779780"/>
            <a:ext cx="4023362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64748B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Confusion Matrix</a:t>
            </a:r>
          </a:p>
        </p:txBody>
      </p:sp>
      <p:pic>
        <p:nvPicPr>
          <p:cNvPr id="137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82879" y="1051560"/>
            <a:ext cx="4389122" cy="3657601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Text 2"/>
          <p:cNvSpPr txBox="1"/>
          <p:nvPr/>
        </p:nvSpPr>
        <p:spPr>
          <a:xfrm>
            <a:off x="4800599" y="779780"/>
            <a:ext cx="402336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64748B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Grupperad Permutation Importance</a:t>
            </a:r>
          </a:p>
        </p:txBody>
      </p:sp>
      <p:pic>
        <p:nvPicPr>
          <p:cNvPr id="139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63440" y="1051560"/>
            <a:ext cx="4297681" cy="36576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 0"/>
          <p:cNvSpPr txBox="1"/>
          <p:nvPr/>
        </p:nvSpPr>
        <p:spPr>
          <a:xfrm>
            <a:off x="548640" y="372110"/>
            <a:ext cx="5486401" cy="44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Bildegenskaper — hjälpte det?</a:t>
            </a:r>
          </a:p>
        </p:txBody>
      </p:sp>
      <p:sp>
        <p:nvSpPr>
          <p:cNvPr id="142" name="Text 1"/>
          <p:cNvSpPr txBox="1"/>
          <p:nvPr/>
        </p:nvSpPr>
        <p:spPr>
          <a:xfrm>
            <a:off x="6858000" y="327660"/>
            <a:ext cx="182880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3600">
                <a:solidFill>
                  <a:srgbClr val="E45756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Nej.</a:t>
            </a:r>
          </a:p>
        </p:txBody>
      </p:sp>
      <p:graphicFrame>
        <p:nvGraphicFramePr>
          <p:cNvPr id="143" name="Table 0"/>
          <p:cNvGraphicFramePr/>
          <p:nvPr/>
        </p:nvGraphicFramePr>
        <p:xfrm>
          <a:off x="548640" y="1097280"/>
          <a:ext cx="5029201" cy="2542033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2860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Modellvariant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Bal. Acc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6213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FFFFFF"/>
                          </a:solidFill>
                        </a:rPr>
                        <a:t>LogReg (tabell)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54A24B"/>
                          </a:solidFill>
                        </a:rPr>
                        <a:t>48.8%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54A24B"/>
                          </a:solidFill>
                        </a:rPr>
                        <a:t>40.5%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FFFFFF"/>
                          </a:solidFill>
                        </a:rPr>
                        <a:t>LogReg (tabell + bild)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F58518"/>
                          </a:solidFill>
                        </a:rPr>
                        <a:t>35.6%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F58518"/>
                          </a:solidFill>
                        </a:rPr>
                        <a:t>27.0%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FFFFFF"/>
                          </a:solidFill>
                        </a:rPr>
                        <a:t>LogReg (enbart bild)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E45756"/>
                          </a:solidFill>
                        </a:rPr>
                        <a:t>14.6%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E45756"/>
                          </a:solidFill>
                        </a:rPr>
                        <a:t>9.1%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FFFFFF"/>
                          </a:solidFill>
                        </a:rPr>
                        <a:t>XGBoost (tabell)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54A24B"/>
                          </a:solidFill>
                        </a:rPr>
                        <a:t>46.3%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54A24B"/>
                          </a:solidFill>
                        </a:rPr>
                        <a:t>38.7%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FFFFFF"/>
                          </a:solidFill>
                        </a:rPr>
                        <a:t>XGBoost (tabell + bild)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F58518"/>
                          </a:solidFill>
                        </a:rPr>
                        <a:t>35.1%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F58518"/>
                          </a:solidFill>
                        </a:rPr>
                        <a:t>21.7%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FFFFFF"/>
                          </a:solidFill>
                        </a:rPr>
                        <a:t>XGBoost (enbart bild)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E45756"/>
                          </a:solidFill>
                        </a:rPr>
                        <a:t>17.1%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E45756"/>
                          </a:solidFill>
                        </a:rPr>
                        <a:t>10.0%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  <p:sp>
        <p:nvSpPr>
          <p:cNvPr id="144" name="Text 2"/>
          <p:cNvSpPr txBox="1"/>
          <p:nvPr/>
        </p:nvSpPr>
        <p:spPr>
          <a:xfrm>
            <a:off x="594360" y="3879413"/>
            <a:ext cx="4937761" cy="2878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1200">
                <a:solidFill>
                  <a:srgbClr val="54A24B"/>
                </a:solidFill>
              </a:defRPr>
            </a:pPr>
            <a:r>
              <a:t>■ </a:t>
            </a:r>
            <a:r>
              <a:rPr sz="1100">
                <a:solidFill>
                  <a:srgbClr val="94A3B8"/>
                </a:solidFill>
              </a:rPr>
              <a:t>Bättre   </a:t>
            </a:r>
            <a:r>
              <a:rPr>
                <a:solidFill>
                  <a:srgbClr val="F58518"/>
                </a:solidFill>
              </a:rPr>
              <a:t>■ </a:t>
            </a:r>
            <a:r>
              <a:rPr sz="1100">
                <a:solidFill>
                  <a:srgbClr val="94A3B8"/>
                </a:solidFill>
              </a:rPr>
              <a:t>Sämre   </a:t>
            </a:r>
            <a:r>
              <a:rPr>
                <a:solidFill>
                  <a:srgbClr val="E45756"/>
                </a:solidFill>
              </a:rPr>
              <a:t>■ </a:t>
            </a:r>
            <a:r>
              <a:rPr sz="1100">
                <a:solidFill>
                  <a:srgbClr val="94A3B8"/>
                </a:solidFill>
              </a:rPr>
              <a:t>Mycket sämre</a:t>
            </a:r>
          </a:p>
        </p:txBody>
      </p:sp>
      <p:sp>
        <p:nvSpPr>
          <p:cNvPr id="145" name="Shape 3"/>
          <p:cNvSpPr/>
          <p:nvPr/>
        </p:nvSpPr>
        <p:spPr>
          <a:xfrm>
            <a:off x="5852159" y="1097280"/>
            <a:ext cx="3017521" cy="3063240"/>
          </a:xfrm>
          <a:prstGeom prst="rect">
            <a:avLst/>
          </a:prstGeom>
          <a:solidFill>
            <a:srgbClr val="16213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6" name="Shape 4"/>
          <p:cNvSpPr/>
          <p:nvPr/>
        </p:nvSpPr>
        <p:spPr>
          <a:xfrm>
            <a:off x="5852159" y="1097280"/>
            <a:ext cx="54865" cy="3063240"/>
          </a:xfrm>
          <a:prstGeom prst="rect">
            <a:avLst/>
          </a:prstGeom>
          <a:solidFill>
            <a:srgbClr val="E4575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7" name="Text 5"/>
          <p:cNvSpPr txBox="1"/>
          <p:nvPr/>
        </p:nvSpPr>
        <p:spPr>
          <a:xfrm>
            <a:off x="6172199" y="1280160"/>
            <a:ext cx="2468881" cy="2493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1600">
                <a:solidFill>
                  <a:srgbClr val="FFFFFF"/>
                </a:solidFill>
              </a:defRPr>
            </a:pPr>
            <a:r>
              <a:t>Varför?</a:t>
            </a:r>
          </a:p>
          <a:p>
            <a:pPr>
              <a:defRPr sz="1600"/>
            </a:pP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Sprite-pixlar kodar visuell design — inte typinformation.</a:t>
            </a:r>
            <a:endParaRPr sz="1600"/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En blå Water-typ och en blå Flying-typ ser likadana ut som pixelvektorer.</a:t>
            </a:r>
            <a:endParaRPr sz="1600"/>
          </a:p>
          <a:p>
            <a:pPr>
              <a:defRPr sz="1600"/>
            </a:pPr>
          </a:p>
          <a:p>
            <a:pPr>
              <a:defRPr b="1" sz="1300">
                <a:solidFill>
                  <a:srgbClr val="FFFFFF"/>
                </a:solidFill>
              </a:defRPr>
            </a:pPr>
            <a:r>
              <a:t>Bildegenskaper introducerar brus som försämrar alla modeller.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 0"/>
          <p:cNvSpPr txBox="1"/>
          <p:nvPr/>
        </p:nvSpPr>
        <p:spPr>
          <a:xfrm>
            <a:off x="548640" y="327660"/>
            <a:ext cx="822960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6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Slutsatser</a:t>
            </a:r>
          </a:p>
        </p:txBody>
      </p:sp>
      <p:sp>
        <p:nvSpPr>
          <p:cNvPr id="150" name="Shape 1"/>
          <p:cNvSpPr/>
          <p:nvPr/>
        </p:nvSpPr>
        <p:spPr>
          <a:xfrm>
            <a:off x="548640" y="1051560"/>
            <a:ext cx="8046719" cy="914401"/>
          </a:xfrm>
          <a:prstGeom prst="rect">
            <a:avLst/>
          </a:prstGeom>
          <a:solidFill>
            <a:srgbClr val="16213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1" name="Shape 2"/>
          <p:cNvSpPr/>
          <p:nvPr/>
        </p:nvSpPr>
        <p:spPr>
          <a:xfrm>
            <a:off x="548640" y="1051560"/>
            <a:ext cx="73153" cy="914401"/>
          </a:xfrm>
          <a:prstGeom prst="rect">
            <a:avLst/>
          </a:prstGeom>
          <a:solidFill>
            <a:srgbClr val="54A24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2" name="Text 3"/>
          <p:cNvSpPr txBox="1"/>
          <p:nvPr/>
        </p:nvSpPr>
        <p:spPr>
          <a:xfrm>
            <a:off x="914399" y="1105661"/>
            <a:ext cx="7406642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Typ kan delvis förutsägas</a:t>
            </a:r>
          </a:p>
        </p:txBody>
      </p:sp>
      <p:sp>
        <p:nvSpPr>
          <p:cNvPr id="153" name="Text 4"/>
          <p:cNvSpPr txBox="1"/>
          <p:nvPr/>
        </p:nvSpPr>
        <p:spPr>
          <a:xfrm>
            <a:off x="914399" y="1438079"/>
            <a:ext cx="7406642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FFFFFF"/>
                </a:solidFill>
              </a:defRPr>
            </a:lvl1pPr>
          </a:lstStyle>
          <a:p>
            <a:pPr/>
            <a:r>
              <a:t>~49% accuracy mot 5.6% slumpchans. Modellerna hittar meningsfulla mönster men 18 klasser med stor obalans sätter ett tydligt tak.</a:t>
            </a:r>
          </a:p>
        </p:txBody>
      </p:sp>
      <p:sp>
        <p:nvSpPr>
          <p:cNvPr id="154" name="Shape 5"/>
          <p:cNvSpPr/>
          <p:nvPr/>
        </p:nvSpPr>
        <p:spPr>
          <a:xfrm>
            <a:off x="548640" y="2148839"/>
            <a:ext cx="8046719" cy="914401"/>
          </a:xfrm>
          <a:prstGeom prst="rect">
            <a:avLst/>
          </a:prstGeom>
          <a:solidFill>
            <a:srgbClr val="16213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5" name="Shape 6"/>
          <p:cNvSpPr/>
          <p:nvPr/>
        </p:nvSpPr>
        <p:spPr>
          <a:xfrm>
            <a:off x="548640" y="2148839"/>
            <a:ext cx="73153" cy="914401"/>
          </a:xfrm>
          <a:prstGeom prst="rect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6" name="Text 7"/>
          <p:cNvSpPr txBox="1"/>
          <p:nvPr/>
        </p:nvSpPr>
        <p:spPr>
          <a:xfrm>
            <a:off x="914399" y="2202942"/>
            <a:ext cx="7406642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Ekologi &gt; Stridsstyrka</a:t>
            </a:r>
          </a:p>
        </p:txBody>
      </p:sp>
      <p:sp>
        <p:nvSpPr>
          <p:cNvPr id="157" name="Text 8"/>
          <p:cNvSpPr txBox="1"/>
          <p:nvPr/>
        </p:nvSpPr>
        <p:spPr>
          <a:xfrm>
            <a:off x="914399" y="2535359"/>
            <a:ext cx="7406642" cy="461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FFFFFF"/>
                </a:solidFill>
              </a:defRPr>
            </a:lvl1pPr>
          </a:lstStyle>
          <a:p>
            <a:pPr/>
            <a:r>
              <a:t>Color, shape, habitat och growth_rate är de starkast förutsägande egenskaperna. Battle stats (HP, Attack, etc.) bidrar förvånansvärt lite.</a:t>
            </a:r>
          </a:p>
        </p:txBody>
      </p:sp>
      <p:sp>
        <p:nvSpPr>
          <p:cNvPr id="158" name="Shape 9"/>
          <p:cNvSpPr/>
          <p:nvPr/>
        </p:nvSpPr>
        <p:spPr>
          <a:xfrm>
            <a:off x="548640" y="3246120"/>
            <a:ext cx="8046719" cy="914401"/>
          </a:xfrm>
          <a:prstGeom prst="rect">
            <a:avLst/>
          </a:prstGeom>
          <a:solidFill>
            <a:srgbClr val="16213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9" name="Shape 10"/>
          <p:cNvSpPr/>
          <p:nvPr/>
        </p:nvSpPr>
        <p:spPr>
          <a:xfrm>
            <a:off x="548640" y="3246120"/>
            <a:ext cx="73153" cy="914401"/>
          </a:xfrm>
          <a:prstGeom prst="rect">
            <a:avLst/>
          </a:prstGeom>
          <a:solidFill>
            <a:srgbClr val="E4575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0" name="Text 11"/>
          <p:cNvSpPr txBox="1"/>
          <p:nvPr/>
        </p:nvSpPr>
        <p:spPr>
          <a:xfrm>
            <a:off x="914399" y="3300221"/>
            <a:ext cx="7406642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Bilder tillför inget</a:t>
            </a:r>
          </a:p>
        </p:txBody>
      </p:sp>
      <p:sp>
        <p:nvSpPr>
          <p:cNvPr id="161" name="Text 12"/>
          <p:cNvSpPr txBox="1"/>
          <p:nvPr/>
        </p:nvSpPr>
        <p:spPr>
          <a:xfrm>
            <a:off x="914399" y="3632639"/>
            <a:ext cx="7406642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FFFFFF"/>
                </a:solidFill>
              </a:defRPr>
            </a:lvl1pPr>
          </a:lstStyle>
          <a:p>
            <a:pPr/>
            <a:r>
              <a:t>Sprite-pixlar kodar design, inte typ. Alla bild-varianter presterar sämre. Image-only-modeller når ~10% (nära slumpchans).</a:t>
            </a:r>
          </a:p>
        </p:txBody>
      </p:sp>
      <p:sp>
        <p:nvSpPr>
          <p:cNvPr id="162" name="Shape 13"/>
          <p:cNvSpPr/>
          <p:nvPr/>
        </p:nvSpPr>
        <p:spPr>
          <a:xfrm>
            <a:off x="548640" y="4160520"/>
            <a:ext cx="8046719" cy="640081"/>
          </a:xfrm>
          <a:prstGeom prst="rect">
            <a:avLst/>
          </a:prstGeom>
          <a:solidFill>
            <a:srgbClr val="16213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3" name="Shape 14"/>
          <p:cNvSpPr/>
          <p:nvPr/>
        </p:nvSpPr>
        <p:spPr>
          <a:xfrm>
            <a:off x="548640" y="4160520"/>
            <a:ext cx="73153" cy="640081"/>
          </a:xfrm>
          <a:prstGeom prst="rect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4" name="Text 15"/>
          <p:cNvSpPr txBox="1"/>
          <p:nvPr/>
        </p:nvSpPr>
        <p:spPr>
          <a:xfrm>
            <a:off x="914399" y="4237159"/>
            <a:ext cx="7406642" cy="486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1400">
                <a:solidFill>
                  <a:srgbClr val="E2B714"/>
                </a:solidFill>
              </a:defRPr>
            </a:pPr>
            <a:r>
              <a:t>Rekommendation till Neintindo: </a:t>
            </a:r>
            <a:r>
              <a:rPr b="0" sz="1300">
                <a:solidFill>
                  <a:srgbClr val="FFFFFF"/>
                </a:solidFill>
              </a:rPr>
              <a:t>Typernas ekologiska mönster är tydliga, men stridsegenskaperna är inte distinkta nog. Överväg att differentiera battle stats mer mellan typerna.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