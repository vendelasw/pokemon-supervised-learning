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370012" y="577453"/>
            <a:ext cx="7315201" cy="12513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5103812" y="1828800"/>
            <a:ext cx="3581401" cy="3314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6294581" y="4643112"/>
            <a:ext cx="258621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86000" y="457200"/>
            <a:ext cx="4572000" cy="1188720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Text 0"/>
          <p:cNvSpPr txBox="1"/>
          <p:nvPr/>
        </p:nvSpPr>
        <p:spPr>
          <a:xfrm>
            <a:off x="960118" y="2067560"/>
            <a:ext cx="7223764" cy="802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Kan vi förutsäga en Mockemons typ</a:t>
            </a:r>
          </a:p>
          <a:p>
            <a:pPr algn="ctr">
              <a:defRPr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pPr>
            <a:r>
              <a:t>med supervised learning?</a:t>
            </a:r>
          </a:p>
        </p:txBody>
      </p:sp>
      <p:sp>
        <p:nvSpPr>
          <p:cNvPr id="22" name="Shape 1"/>
          <p:cNvSpPr/>
          <p:nvPr/>
        </p:nvSpPr>
        <p:spPr>
          <a:xfrm>
            <a:off x="2285999" y="3200400"/>
            <a:ext cx="45720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" name="Text 2"/>
          <p:cNvSpPr txBox="1"/>
          <p:nvPr/>
        </p:nvSpPr>
        <p:spPr>
          <a:xfrm>
            <a:off x="960118" y="3553023"/>
            <a:ext cx="7223764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Supervised learning</a:t>
            </a:r>
          </a:p>
        </p:txBody>
      </p:sp>
      <p:pic>
        <p:nvPicPr>
          <p:cNvPr id="24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79918" y="4114800"/>
            <a:ext cx="2024004" cy="6400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Uppdraget</a:t>
            </a:r>
          </a:p>
        </p:txBody>
      </p:sp>
      <p:sp>
        <p:nvSpPr>
          <p:cNvPr id="27" name="Shape 1"/>
          <p:cNvSpPr/>
          <p:nvPr/>
        </p:nvSpPr>
        <p:spPr>
          <a:xfrm>
            <a:off x="548638" y="1097277"/>
            <a:ext cx="5029205" cy="347472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8" name="Shape 2"/>
          <p:cNvSpPr/>
          <p:nvPr/>
        </p:nvSpPr>
        <p:spPr>
          <a:xfrm>
            <a:off x="548640" y="1097277"/>
            <a:ext cx="64010" cy="3474725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9" name="Text 3"/>
          <p:cNvSpPr txBox="1"/>
          <p:nvPr/>
        </p:nvSpPr>
        <p:spPr>
          <a:xfrm>
            <a:off x="914399" y="1280160"/>
            <a:ext cx="4389123" cy="239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1A1A2E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Neintindo har anlitat oss för att undersöka om Mockemon-karaktärernas egenskaper tydligt speglar vilken typ de tillhör.</a:t>
            </a: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400">
                <a:latin typeface="+mj-lt"/>
                <a:ea typeface="+mj-ea"/>
                <a:cs typeface="+mj-cs"/>
                <a:sym typeface="Calibri"/>
              </a:defRPr>
            </a:pPr>
            <a:r>
              <a:t>Vi ska analysera om statistik och visuell design är tillräckligt distinkta för att förutsäga typ med supervised learning.</a:t>
            </a:r>
            <a:endParaRPr sz="1600"/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Genom att kombinera tabellbaserade egenskaper med visuella bildegenskaper undersöker vi sambandet mellan en Mockemons egenskaper och dess typ.</a:t>
            </a:r>
          </a:p>
        </p:txBody>
      </p:sp>
      <p:sp>
        <p:nvSpPr>
          <p:cNvPr id="30" name="Shape 4"/>
          <p:cNvSpPr/>
          <p:nvPr/>
        </p:nvSpPr>
        <p:spPr>
          <a:xfrm>
            <a:off x="5852159" y="1097279"/>
            <a:ext cx="2926083" cy="1554484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" name="Text 5"/>
          <p:cNvSpPr txBox="1"/>
          <p:nvPr/>
        </p:nvSpPr>
        <p:spPr>
          <a:xfrm>
            <a:off x="5852159" y="1346199"/>
            <a:ext cx="2926083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b="1" sz="48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1025</a:t>
            </a:r>
          </a:p>
        </p:txBody>
      </p:sp>
      <p:sp>
        <p:nvSpPr>
          <p:cNvPr id="32" name="Text 6"/>
          <p:cNvSpPr txBox="1"/>
          <p:nvPr/>
        </p:nvSpPr>
        <p:spPr>
          <a:xfrm>
            <a:off x="5897879" y="2103121"/>
            <a:ext cx="2834643" cy="2581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Mockemon i datasetet</a:t>
            </a:r>
          </a:p>
        </p:txBody>
      </p:sp>
      <p:sp>
        <p:nvSpPr>
          <p:cNvPr id="33" name="Shape 7"/>
          <p:cNvSpPr/>
          <p:nvPr/>
        </p:nvSpPr>
        <p:spPr>
          <a:xfrm>
            <a:off x="5852159" y="2880360"/>
            <a:ext cx="2926083" cy="1554483"/>
          </a:xfrm>
          <a:prstGeom prst="rect">
            <a:avLst/>
          </a:prstGeom>
          <a:solidFill>
            <a:srgbClr val="1A1A2E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4" name="Text 8"/>
          <p:cNvSpPr txBox="1"/>
          <p:nvPr/>
        </p:nvSpPr>
        <p:spPr>
          <a:xfrm>
            <a:off x="5852159" y="3129277"/>
            <a:ext cx="2926083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b="1" sz="48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35" name="Text 9"/>
          <p:cNvSpPr txBox="1"/>
          <p:nvPr/>
        </p:nvSpPr>
        <p:spPr>
          <a:xfrm>
            <a:off x="5897879" y="3886198"/>
            <a:ext cx="2834643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unika typer att förutsäga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Datan vi fick</a:t>
            </a:r>
          </a:p>
        </p:txBody>
      </p:sp>
      <p:sp>
        <p:nvSpPr>
          <p:cNvPr id="38" name="Shape 1"/>
          <p:cNvSpPr/>
          <p:nvPr/>
        </p:nvSpPr>
        <p:spPr>
          <a:xfrm>
            <a:off x="548640" y="1097280"/>
            <a:ext cx="1920240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" name="Shape 2"/>
          <p:cNvSpPr/>
          <p:nvPr/>
        </p:nvSpPr>
        <p:spPr>
          <a:xfrm>
            <a:off x="548640" y="1097280"/>
            <a:ext cx="1920240" cy="64010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0" name="Text 3"/>
          <p:cNvSpPr txBox="1"/>
          <p:nvPr/>
        </p:nvSpPr>
        <p:spPr>
          <a:xfrm>
            <a:off x="731517" y="1280160"/>
            <a:ext cx="1554485" cy="307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Battle Stats</a:t>
            </a:r>
          </a:p>
        </p:txBody>
      </p:sp>
      <p:sp>
        <p:nvSpPr>
          <p:cNvPr id="41" name="Text 4"/>
          <p:cNvSpPr txBox="1"/>
          <p:nvPr/>
        </p:nvSpPr>
        <p:spPr>
          <a:xfrm>
            <a:off x="731517" y="1828800"/>
            <a:ext cx="1554485" cy="1274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HP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Attack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Defense,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Sp. Attack,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Sp. Defense,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Speed</a:t>
            </a:r>
          </a:p>
        </p:txBody>
      </p:sp>
      <p:sp>
        <p:nvSpPr>
          <p:cNvPr id="42" name="Shape 5"/>
          <p:cNvSpPr/>
          <p:nvPr/>
        </p:nvSpPr>
        <p:spPr>
          <a:xfrm>
            <a:off x="2651760" y="1097280"/>
            <a:ext cx="1920241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3" name="Shape 6"/>
          <p:cNvSpPr/>
          <p:nvPr/>
        </p:nvSpPr>
        <p:spPr>
          <a:xfrm>
            <a:off x="2651760" y="1097280"/>
            <a:ext cx="1920241" cy="64010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" name="Text 7"/>
          <p:cNvSpPr txBox="1"/>
          <p:nvPr/>
        </p:nvSpPr>
        <p:spPr>
          <a:xfrm>
            <a:off x="2834638" y="1280160"/>
            <a:ext cx="1554484" cy="307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Fysiska attribut</a:t>
            </a:r>
          </a:p>
        </p:txBody>
      </p:sp>
      <p:sp>
        <p:nvSpPr>
          <p:cNvPr id="45" name="Text 8"/>
          <p:cNvSpPr txBox="1"/>
          <p:nvPr/>
        </p:nvSpPr>
        <p:spPr>
          <a:xfrm>
            <a:off x="2834638" y="1828799"/>
            <a:ext cx="1554484" cy="867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Height,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Weight,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Shape,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Color</a:t>
            </a:r>
          </a:p>
        </p:txBody>
      </p:sp>
      <p:sp>
        <p:nvSpPr>
          <p:cNvPr id="46" name="Shape 9"/>
          <p:cNvSpPr/>
          <p:nvPr/>
        </p:nvSpPr>
        <p:spPr>
          <a:xfrm>
            <a:off x="4754879" y="1097280"/>
            <a:ext cx="1920241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7" name="Shape 10"/>
          <p:cNvSpPr/>
          <p:nvPr/>
        </p:nvSpPr>
        <p:spPr>
          <a:xfrm>
            <a:off x="4754879" y="1097280"/>
            <a:ext cx="1920241" cy="64010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8" name="Text 11"/>
          <p:cNvSpPr txBox="1"/>
          <p:nvPr/>
        </p:nvSpPr>
        <p:spPr>
          <a:xfrm>
            <a:off x="4937759" y="1280160"/>
            <a:ext cx="1554483" cy="307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Ekologi</a:t>
            </a:r>
          </a:p>
        </p:txBody>
      </p:sp>
      <p:sp>
        <p:nvSpPr>
          <p:cNvPr id="49" name="Text 12"/>
          <p:cNvSpPr txBox="1"/>
          <p:nvPr/>
        </p:nvSpPr>
        <p:spPr>
          <a:xfrm>
            <a:off x="4937759" y="1828799"/>
            <a:ext cx="1554483" cy="867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Habitat,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Growth Rate,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Egg Groups,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Capture Rate</a:t>
            </a:r>
          </a:p>
        </p:txBody>
      </p:sp>
      <p:sp>
        <p:nvSpPr>
          <p:cNvPr id="50" name="Shape 13"/>
          <p:cNvSpPr/>
          <p:nvPr/>
        </p:nvSpPr>
        <p:spPr>
          <a:xfrm>
            <a:off x="6858000" y="1097280"/>
            <a:ext cx="1920240" cy="23774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1" name="Shape 14"/>
          <p:cNvSpPr/>
          <p:nvPr/>
        </p:nvSpPr>
        <p:spPr>
          <a:xfrm>
            <a:off x="6858000" y="1097280"/>
            <a:ext cx="1920240" cy="64010"/>
          </a:xfrm>
          <a:prstGeom prst="rect">
            <a:avLst/>
          </a:prstGeom>
          <a:solidFill>
            <a:srgbClr val="F5851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2" name="Text 15"/>
          <p:cNvSpPr txBox="1"/>
          <p:nvPr/>
        </p:nvSpPr>
        <p:spPr>
          <a:xfrm>
            <a:off x="7040877" y="1280160"/>
            <a:ext cx="1554484" cy="307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5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Visuell design</a:t>
            </a:r>
          </a:p>
        </p:txBody>
      </p:sp>
      <p:sp>
        <p:nvSpPr>
          <p:cNvPr id="53" name="Text 16"/>
          <p:cNvSpPr txBox="1"/>
          <p:nvPr/>
        </p:nvSpPr>
        <p:spPr>
          <a:xfrm>
            <a:off x="7040877" y="1828799"/>
            <a:ext cx="1554484" cy="66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Sprite-bilder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(96×96 RGB)</a:t>
            </a: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per Mockemon</a:t>
            </a:r>
          </a:p>
        </p:txBody>
      </p:sp>
      <p:sp>
        <p:nvSpPr>
          <p:cNvPr id="54" name="Text 17"/>
          <p:cNvSpPr txBox="1"/>
          <p:nvPr/>
        </p:nvSpPr>
        <p:spPr>
          <a:xfrm>
            <a:off x="594360" y="3749040"/>
            <a:ext cx="7955279" cy="4388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solidFill>
                  <a:srgbClr val="64748B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Rensning: median-fill för numeriska, "unknown" för kategoriska, dummy-kodning av color/shape/habitat/growth_rate → totalt 49 features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Arbetsflöde</a:t>
            </a:r>
          </a:p>
        </p:txBody>
      </p:sp>
      <p:sp>
        <p:nvSpPr>
          <p:cNvPr id="57" name="Shape 1"/>
          <p:cNvSpPr/>
          <p:nvPr/>
        </p:nvSpPr>
        <p:spPr>
          <a:xfrm>
            <a:off x="731519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8" name="Text 2"/>
          <p:cNvSpPr txBox="1"/>
          <p:nvPr/>
        </p:nvSpPr>
        <p:spPr>
          <a:xfrm>
            <a:off x="777239" y="1389380"/>
            <a:ext cx="548641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59" name="Text 3"/>
          <p:cNvSpPr txBox="1"/>
          <p:nvPr/>
        </p:nvSpPr>
        <p:spPr>
          <a:xfrm>
            <a:off x="411477" y="2057400"/>
            <a:ext cx="1280165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Data</a:t>
            </a:r>
          </a:p>
        </p:txBody>
      </p:sp>
      <p:sp>
        <p:nvSpPr>
          <p:cNvPr id="60" name="Text 4"/>
          <p:cNvSpPr txBox="1"/>
          <p:nvPr/>
        </p:nvSpPr>
        <p:spPr>
          <a:xfrm>
            <a:off x="411477" y="2468878"/>
            <a:ext cx="1280165" cy="390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CSV med 1025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Mockemon + sprites</a:t>
            </a:r>
          </a:p>
        </p:txBody>
      </p:sp>
      <p:sp>
        <p:nvSpPr>
          <p:cNvPr id="61" name="Shape 5"/>
          <p:cNvSpPr/>
          <p:nvPr/>
        </p:nvSpPr>
        <p:spPr>
          <a:xfrm>
            <a:off x="1600199" y="1600200"/>
            <a:ext cx="4572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2" name="Shape 6"/>
          <p:cNvSpPr/>
          <p:nvPr/>
        </p:nvSpPr>
        <p:spPr>
          <a:xfrm>
            <a:off x="2194560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3" name="Text 7"/>
          <p:cNvSpPr txBox="1"/>
          <p:nvPr/>
        </p:nvSpPr>
        <p:spPr>
          <a:xfrm>
            <a:off x="2240278" y="1389380"/>
            <a:ext cx="548643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64" name="Text 8"/>
          <p:cNvSpPr txBox="1"/>
          <p:nvPr/>
        </p:nvSpPr>
        <p:spPr>
          <a:xfrm>
            <a:off x="1874517" y="2057400"/>
            <a:ext cx="1280164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Rensning</a:t>
            </a:r>
          </a:p>
        </p:txBody>
      </p:sp>
      <p:sp>
        <p:nvSpPr>
          <p:cNvPr id="65" name="Text 9"/>
          <p:cNvSpPr txBox="1"/>
          <p:nvPr/>
        </p:nvSpPr>
        <p:spPr>
          <a:xfrm>
            <a:off x="1874517" y="2468878"/>
            <a:ext cx="1280164" cy="390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Saknade värden,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typkonvertering</a:t>
            </a:r>
          </a:p>
        </p:txBody>
      </p:sp>
      <p:sp>
        <p:nvSpPr>
          <p:cNvPr id="66" name="Shape 10"/>
          <p:cNvSpPr/>
          <p:nvPr/>
        </p:nvSpPr>
        <p:spPr>
          <a:xfrm>
            <a:off x="3063238" y="1600200"/>
            <a:ext cx="4572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7" name="Shape 11"/>
          <p:cNvSpPr/>
          <p:nvPr/>
        </p:nvSpPr>
        <p:spPr>
          <a:xfrm>
            <a:off x="3657598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8" name="Text 12"/>
          <p:cNvSpPr txBox="1"/>
          <p:nvPr/>
        </p:nvSpPr>
        <p:spPr>
          <a:xfrm>
            <a:off x="3703318" y="1389380"/>
            <a:ext cx="548644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69" name="Text 13"/>
          <p:cNvSpPr txBox="1"/>
          <p:nvPr/>
        </p:nvSpPr>
        <p:spPr>
          <a:xfrm>
            <a:off x="3337559" y="2057400"/>
            <a:ext cx="1280163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EDA</a:t>
            </a:r>
          </a:p>
        </p:txBody>
      </p:sp>
      <p:sp>
        <p:nvSpPr>
          <p:cNvPr id="70" name="Text 14"/>
          <p:cNvSpPr txBox="1"/>
          <p:nvPr/>
        </p:nvSpPr>
        <p:spPr>
          <a:xfrm>
            <a:off x="3337559" y="2468878"/>
            <a:ext cx="1280163" cy="390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Fördelningar,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korrelationer</a:t>
            </a:r>
          </a:p>
        </p:txBody>
      </p:sp>
      <p:sp>
        <p:nvSpPr>
          <p:cNvPr id="71" name="Shape 15"/>
          <p:cNvSpPr/>
          <p:nvPr/>
        </p:nvSpPr>
        <p:spPr>
          <a:xfrm>
            <a:off x="4526279" y="1600200"/>
            <a:ext cx="4572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2" name="Shape 16"/>
          <p:cNvSpPr/>
          <p:nvPr/>
        </p:nvSpPr>
        <p:spPr>
          <a:xfrm>
            <a:off x="5120640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3" name="Text 17"/>
          <p:cNvSpPr txBox="1"/>
          <p:nvPr/>
        </p:nvSpPr>
        <p:spPr>
          <a:xfrm>
            <a:off x="5166359" y="1389380"/>
            <a:ext cx="548643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74" name="Text 18"/>
          <p:cNvSpPr txBox="1"/>
          <p:nvPr/>
        </p:nvSpPr>
        <p:spPr>
          <a:xfrm>
            <a:off x="4800598" y="2057400"/>
            <a:ext cx="1280163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Features</a:t>
            </a:r>
          </a:p>
        </p:txBody>
      </p:sp>
      <p:sp>
        <p:nvSpPr>
          <p:cNvPr id="75" name="Text 19"/>
          <p:cNvSpPr txBox="1"/>
          <p:nvPr/>
        </p:nvSpPr>
        <p:spPr>
          <a:xfrm>
            <a:off x="4800598" y="2468878"/>
            <a:ext cx="1280163" cy="390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Dummy-kodning,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PCA (tabell + bild)</a:t>
            </a:r>
          </a:p>
        </p:txBody>
      </p:sp>
      <p:sp>
        <p:nvSpPr>
          <p:cNvPr id="76" name="Shape 20"/>
          <p:cNvSpPr/>
          <p:nvPr/>
        </p:nvSpPr>
        <p:spPr>
          <a:xfrm>
            <a:off x="5989320" y="1600200"/>
            <a:ext cx="4572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77" name="Shape 21"/>
          <p:cNvSpPr/>
          <p:nvPr/>
        </p:nvSpPr>
        <p:spPr>
          <a:xfrm>
            <a:off x="6583680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8" name="Text 22"/>
          <p:cNvSpPr txBox="1"/>
          <p:nvPr/>
        </p:nvSpPr>
        <p:spPr>
          <a:xfrm>
            <a:off x="6629400" y="1389380"/>
            <a:ext cx="548641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79" name="Text 23"/>
          <p:cNvSpPr txBox="1"/>
          <p:nvPr/>
        </p:nvSpPr>
        <p:spPr>
          <a:xfrm>
            <a:off x="6263640" y="2057400"/>
            <a:ext cx="1280163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Träning</a:t>
            </a:r>
          </a:p>
        </p:txBody>
      </p:sp>
      <p:sp>
        <p:nvSpPr>
          <p:cNvPr id="80" name="Text 24"/>
          <p:cNvSpPr txBox="1"/>
          <p:nvPr/>
        </p:nvSpPr>
        <p:spPr>
          <a:xfrm>
            <a:off x="6263640" y="2468878"/>
            <a:ext cx="1280163" cy="3908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LogReg, XGBoost,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Random Forest</a:t>
            </a:r>
          </a:p>
        </p:txBody>
      </p:sp>
      <p:sp>
        <p:nvSpPr>
          <p:cNvPr id="81" name="Shape 25"/>
          <p:cNvSpPr/>
          <p:nvPr/>
        </p:nvSpPr>
        <p:spPr>
          <a:xfrm>
            <a:off x="7452359" y="1600200"/>
            <a:ext cx="457203" cy="0"/>
          </a:xfrm>
          <a:prstGeom prst="line">
            <a:avLst/>
          </a:prstGeom>
          <a:ln w="25400">
            <a:solidFill>
              <a:srgbClr val="E2B714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82" name="Shape 26"/>
          <p:cNvSpPr/>
          <p:nvPr/>
        </p:nvSpPr>
        <p:spPr>
          <a:xfrm>
            <a:off x="8046718" y="1280160"/>
            <a:ext cx="640085" cy="640085"/>
          </a:xfrm>
          <a:prstGeom prst="ellipse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3" name="Text 27"/>
          <p:cNvSpPr txBox="1"/>
          <p:nvPr/>
        </p:nvSpPr>
        <p:spPr>
          <a:xfrm>
            <a:off x="8092439" y="1389380"/>
            <a:ext cx="548643" cy="421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22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84" name="Text 28"/>
          <p:cNvSpPr txBox="1"/>
          <p:nvPr/>
        </p:nvSpPr>
        <p:spPr>
          <a:xfrm>
            <a:off x="7726677" y="2057400"/>
            <a:ext cx="1280163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Resultat</a:t>
            </a:r>
          </a:p>
        </p:txBody>
      </p:sp>
      <p:sp>
        <p:nvSpPr>
          <p:cNvPr id="85" name="Text 29"/>
          <p:cNvSpPr txBox="1"/>
          <p:nvPr/>
        </p:nvSpPr>
        <p:spPr>
          <a:xfrm>
            <a:off x="7726677" y="2468878"/>
            <a:ext cx="1280163" cy="555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Accuracy, F1,</a:t>
            </a:r>
          </a:p>
          <a:p>
            <a:pPr algn="ctr"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Confusion Matrix, mm.</a:t>
            </a:r>
          </a:p>
        </p:txBody>
      </p:sp>
      <p:sp>
        <p:nvSpPr>
          <p:cNvPr id="86" name="Text 30"/>
          <p:cNvSpPr txBox="1"/>
          <p:nvPr/>
        </p:nvSpPr>
        <p:spPr>
          <a:xfrm>
            <a:off x="594360" y="3327400"/>
            <a:ext cx="8138160" cy="294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4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Tre experimentgrupper:</a:t>
            </a:r>
          </a:p>
        </p:txBody>
      </p:sp>
      <p:sp>
        <p:nvSpPr>
          <p:cNvPr id="87" name="Shape 31"/>
          <p:cNvSpPr/>
          <p:nvPr/>
        </p:nvSpPr>
        <p:spPr>
          <a:xfrm>
            <a:off x="548640" y="3749040"/>
            <a:ext cx="2606040" cy="82296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8" name="Shape 32"/>
          <p:cNvSpPr/>
          <p:nvPr/>
        </p:nvSpPr>
        <p:spPr>
          <a:xfrm>
            <a:off x="548640" y="3749040"/>
            <a:ext cx="54867" cy="822963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9" name="Text 33"/>
          <p:cNvSpPr txBox="1"/>
          <p:nvPr/>
        </p:nvSpPr>
        <p:spPr>
          <a:xfrm>
            <a:off x="777238" y="3836668"/>
            <a:ext cx="2194563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Enbart tabelldata</a:t>
            </a:r>
          </a:p>
        </p:txBody>
      </p:sp>
      <p:sp>
        <p:nvSpPr>
          <p:cNvPr id="90" name="Text 34"/>
          <p:cNvSpPr txBox="1"/>
          <p:nvPr/>
        </p:nvSpPr>
        <p:spPr>
          <a:xfrm>
            <a:off x="777238" y="4207686"/>
            <a:ext cx="2194563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Stats + kategoriska features</a:t>
            </a:r>
          </a:p>
        </p:txBody>
      </p:sp>
      <p:sp>
        <p:nvSpPr>
          <p:cNvPr id="91" name="Shape 35"/>
          <p:cNvSpPr/>
          <p:nvPr/>
        </p:nvSpPr>
        <p:spPr>
          <a:xfrm>
            <a:off x="3383279" y="3749040"/>
            <a:ext cx="2606043" cy="82296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2" name="Shape 36"/>
          <p:cNvSpPr/>
          <p:nvPr/>
        </p:nvSpPr>
        <p:spPr>
          <a:xfrm>
            <a:off x="3383279" y="3749040"/>
            <a:ext cx="54867" cy="822963"/>
          </a:xfrm>
          <a:prstGeom prst="rect">
            <a:avLst/>
          </a:prstGeom>
          <a:solidFill>
            <a:srgbClr val="F5851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3" name="Text 37"/>
          <p:cNvSpPr txBox="1"/>
          <p:nvPr/>
        </p:nvSpPr>
        <p:spPr>
          <a:xfrm>
            <a:off x="3611879" y="3836668"/>
            <a:ext cx="2194563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Tabell + bilder</a:t>
            </a:r>
          </a:p>
        </p:txBody>
      </p:sp>
      <p:sp>
        <p:nvSpPr>
          <p:cNvPr id="94" name="Text 38"/>
          <p:cNvSpPr txBox="1"/>
          <p:nvPr/>
        </p:nvSpPr>
        <p:spPr>
          <a:xfrm>
            <a:off x="3611879" y="4207686"/>
            <a:ext cx="2194563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Stats + PCA-komprimerade sprites</a:t>
            </a:r>
          </a:p>
        </p:txBody>
      </p:sp>
      <p:sp>
        <p:nvSpPr>
          <p:cNvPr id="95" name="Shape 39"/>
          <p:cNvSpPr/>
          <p:nvPr/>
        </p:nvSpPr>
        <p:spPr>
          <a:xfrm>
            <a:off x="6217920" y="3749040"/>
            <a:ext cx="2606043" cy="82296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6" name="Shape 40"/>
          <p:cNvSpPr/>
          <p:nvPr/>
        </p:nvSpPr>
        <p:spPr>
          <a:xfrm>
            <a:off x="6217920" y="3749040"/>
            <a:ext cx="54867" cy="822963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7" name="Text 41"/>
          <p:cNvSpPr txBox="1"/>
          <p:nvPr/>
        </p:nvSpPr>
        <p:spPr>
          <a:xfrm>
            <a:off x="6446518" y="3836668"/>
            <a:ext cx="2194564" cy="281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Enbart bilder</a:t>
            </a:r>
          </a:p>
        </p:txBody>
      </p:sp>
      <p:sp>
        <p:nvSpPr>
          <p:cNvPr id="98" name="Text 42"/>
          <p:cNvSpPr txBox="1"/>
          <p:nvPr/>
        </p:nvSpPr>
        <p:spPr>
          <a:xfrm>
            <a:off x="6446518" y="4207686"/>
            <a:ext cx="2194564" cy="225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Bara sprite-pixlar (PCA)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Klassbalans — målvariabel</a:t>
            </a:r>
          </a:p>
        </p:txBody>
      </p:sp>
      <p:pic>
        <p:nvPicPr>
          <p:cNvPr id="10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320" y="1005838"/>
            <a:ext cx="5029202" cy="3657604"/>
          </a:xfrm>
          <a:prstGeom prst="rect">
            <a:avLst/>
          </a:prstGeom>
          <a:ln w="12700">
            <a:miter lim="400000"/>
          </a:ln>
        </p:spPr>
      </p:pic>
      <p:sp>
        <p:nvSpPr>
          <p:cNvPr id="102" name="Shape 1"/>
          <p:cNvSpPr/>
          <p:nvPr/>
        </p:nvSpPr>
        <p:spPr>
          <a:xfrm>
            <a:off x="5577840" y="1005837"/>
            <a:ext cx="3291843" cy="365760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3" name="Shape 2"/>
          <p:cNvSpPr/>
          <p:nvPr/>
        </p:nvSpPr>
        <p:spPr>
          <a:xfrm>
            <a:off x="5577840" y="1005837"/>
            <a:ext cx="54867" cy="3657605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4" name="Text 3"/>
          <p:cNvSpPr txBox="1"/>
          <p:nvPr/>
        </p:nvSpPr>
        <p:spPr>
          <a:xfrm>
            <a:off x="5897879" y="1188719"/>
            <a:ext cx="2743203" cy="2750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1A1A2E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Observationer</a:t>
            </a: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Water dominerar med 134 st, medans Flying bara har 9 st.</a:t>
            </a:r>
            <a:endParaRPr sz="1600"/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b="1" sz="1300">
                <a:solidFill>
                  <a:srgbClr val="1A1A2E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Stor obalans i klasserna </a:t>
            </a:r>
            <a:r>
              <a:rPr b="0">
                <a:solidFill>
                  <a:srgbClr val="000000"/>
                </a:solidFill>
              </a:rPr>
              <a:t>gör det svårt att förutsäga ovanliga typer.</a:t>
            </a:r>
            <a:endParaRPr sz="1600"/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Slumpchans:</a:t>
            </a:r>
            <a:r>
              <a:rPr>
                <a:solidFill>
                  <a:srgbClr val="64748B"/>
                </a:solidFill>
              </a:rPr>
              <a:t> </a:t>
            </a:r>
            <a:r>
              <a:rPr b="1" sz="1500">
                <a:solidFill>
                  <a:srgbClr val="3D5AF1"/>
                </a:solidFill>
              </a:rPr>
              <a:t>5.6%</a:t>
            </a:r>
            <a:r>
              <a:rPr>
                <a:solidFill>
                  <a:srgbClr val="64748B"/>
                </a:solidFill>
              </a:rPr>
              <a:t> </a:t>
            </a:r>
            <a:r>
              <a:t>(1/18)</a:t>
            </a:r>
            <a:endParaRPr sz="1600">
              <a:solidFill>
                <a:srgbClr val="64748B"/>
              </a:solidFill>
            </a:endParaRP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200">
                <a:latin typeface="+mj-lt"/>
                <a:ea typeface="+mj-ea"/>
                <a:cs typeface="+mj-cs"/>
                <a:sym typeface="Calibri"/>
              </a:defRPr>
            </a:pPr>
            <a:r>
              <a:t>Vi använder balanced accuracy och macro F1 för rättvis jämförelse.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EDA — Korrelationer</a:t>
            </a:r>
          </a:p>
        </p:txBody>
      </p:sp>
      <p:pic>
        <p:nvPicPr>
          <p:cNvPr id="10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7200" y="1005838"/>
            <a:ext cx="5029200" cy="3840484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Shape 1"/>
          <p:cNvSpPr/>
          <p:nvPr/>
        </p:nvSpPr>
        <p:spPr>
          <a:xfrm>
            <a:off x="5760720" y="1005838"/>
            <a:ext cx="3108963" cy="384048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9" name="Shape 2"/>
          <p:cNvSpPr/>
          <p:nvPr/>
        </p:nvSpPr>
        <p:spPr>
          <a:xfrm>
            <a:off x="5760720" y="1005838"/>
            <a:ext cx="54867" cy="3840483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0" name="Text 3"/>
          <p:cNvSpPr txBox="1"/>
          <p:nvPr/>
        </p:nvSpPr>
        <p:spPr>
          <a:xfrm>
            <a:off x="6080759" y="1188719"/>
            <a:ext cx="2560323" cy="22676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1A1A2E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Insikter</a:t>
            </a: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Sp. Attack och Sp. Defense korrelerar starkt (0.49).</a:t>
            </a:r>
            <a:endParaRPr sz="1600"/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Stridsegenskaper varierar mellan typer men överlappar kraftigt.</a:t>
            </a:r>
            <a:endParaRPr b="1" sz="1600">
              <a:solidFill>
                <a:srgbClr val="1A1A2E"/>
              </a:solidFill>
            </a:endParaRP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200">
                <a:latin typeface="+mj-lt"/>
                <a:ea typeface="+mj-ea"/>
                <a:cs typeface="+mj-cs"/>
                <a:sym typeface="Calibri"/>
              </a:defRPr>
            </a:pPr>
            <a:r>
              <a:t>Height och weight korrelerar starkt (0.63) — fysisk storlek hänger ihop.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okemon_type_training_model_comparison.png" descr="pokemon_type_training_model_comparison.png"/>
          <p:cNvPicPr>
            <a:picLocks noChangeAspect="1"/>
          </p:cNvPicPr>
          <p:nvPr/>
        </p:nvPicPr>
        <p:blipFill>
          <a:blip r:embed="rId2">
            <a:extLst/>
          </a:blip>
          <a:srcRect l="0" t="5084" r="0" b="0"/>
          <a:stretch>
            <a:fillRect/>
          </a:stretch>
        </p:blipFill>
        <p:spPr>
          <a:xfrm>
            <a:off x="285749" y="361408"/>
            <a:ext cx="8572501" cy="4881977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Rounded Rectangle"/>
          <p:cNvSpPr/>
          <p:nvPr/>
        </p:nvSpPr>
        <p:spPr>
          <a:xfrm>
            <a:off x="3352745" y="-878710"/>
            <a:ext cx="2946510" cy="1270001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114" name="11 tränade modeller"/>
          <p:cNvSpPr txBox="1"/>
          <p:nvPr/>
        </p:nvSpPr>
        <p:spPr>
          <a:xfrm>
            <a:off x="3511714" y="16337"/>
            <a:ext cx="212057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11 tränade modeller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Resultat — bästa modellerna</a:t>
            </a:r>
          </a:p>
        </p:txBody>
      </p:sp>
      <p:sp>
        <p:nvSpPr>
          <p:cNvPr id="117" name="Shape 1"/>
          <p:cNvSpPr/>
          <p:nvPr/>
        </p:nvSpPr>
        <p:spPr>
          <a:xfrm>
            <a:off x="548640" y="1097277"/>
            <a:ext cx="2606040" cy="35661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8" name="Shape 2"/>
          <p:cNvSpPr/>
          <p:nvPr/>
        </p:nvSpPr>
        <p:spPr>
          <a:xfrm>
            <a:off x="548640" y="1097280"/>
            <a:ext cx="2606040" cy="64010"/>
          </a:xfrm>
          <a:prstGeom prst="rect">
            <a:avLst/>
          </a:prstGeom>
          <a:solidFill>
            <a:srgbClr val="3D5AF1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9" name="Text 3"/>
          <p:cNvSpPr txBox="1"/>
          <p:nvPr/>
        </p:nvSpPr>
        <p:spPr>
          <a:xfrm>
            <a:off x="731517" y="1342389"/>
            <a:ext cx="2240285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LogReg (PCA)</a:t>
            </a:r>
          </a:p>
        </p:txBody>
      </p:sp>
      <p:sp>
        <p:nvSpPr>
          <p:cNvPr id="120" name="Text 4"/>
          <p:cNvSpPr txBox="1"/>
          <p:nvPr/>
        </p:nvSpPr>
        <p:spPr>
          <a:xfrm>
            <a:off x="685798" y="1889759"/>
            <a:ext cx="2331724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3D5AF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48.8%</a:t>
            </a:r>
          </a:p>
        </p:txBody>
      </p:sp>
      <p:sp>
        <p:nvSpPr>
          <p:cNvPr id="121" name="Text 5"/>
          <p:cNvSpPr txBox="1"/>
          <p:nvPr/>
        </p:nvSpPr>
        <p:spPr>
          <a:xfrm>
            <a:off x="731517" y="2527606"/>
            <a:ext cx="2240285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22" name="Text 6"/>
          <p:cNvSpPr txBox="1"/>
          <p:nvPr/>
        </p:nvSpPr>
        <p:spPr>
          <a:xfrm>
            <a:off x="731517" y="3050977"/>
            <a:ext cx="2240285" cy="66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Balanced Acc: </a:t>
            </a:r>
            <a:r>
              <a:rPr b="1"/>
              <a:t>40.5%</a:t>
            </a: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Macro F1: </a:t>
            </a:r>
            <a:r>
              <a:rPr b="1"/>
              <a:t>0.404</a:t>
            </a:r>
          </a:p>
        </p:txBody>
      </p:sp>
      <p:sp>
        <p:nvSpPr>
          <p:cNvPr id="123" name="Text 7"/>
          <p:cNvSpPr txBox="1"/>
          <p:nvPr/>
        </p:nvSpPr>
        <p:spPr>
          <a:xfrm>
            <a:off x="731517" y="4025900"/>
            <a:ext cx="2240285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3D5AF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accuracy (delad)</a:t>
            </a:r>
          </a:p>
        </p:txBody>
      </p:sp>
      <p:sp>
        <p:nvSpPr>
          <p:cNvPr id="124" name="Shape 8"/>
          <p:cNvSpPr/>
          <p:nvPr/>
        </p:nvSpPr>
        <p:spPr>
          <a:xfrm>
            <a:off x="3383279" y="1097277"/>
            <a:ext cx="2606043" cy="35661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5" name="Shape 9"/>
          <p:cNvSpPr/>
          <p:nvPr/>
        </p:nvSpPr>
        <p:spPr>
          <a:xfrm>
            <a:off x="3383279" y="1097280"/>
            <a:ext cx="2606043" cy="64010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26" name="Text 10"/>
          <p:cNvSpPr txBox="1"/>
          <p:nvPr/>
        </p:nvSpPr>
        <p:spPr>
          <a:xfrm>
            <a:off x="3566159" y="1342389"/>
            <a:ext cx="2240283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Random Forest</a:t>
            </a:r>
          </a:p>
        </p:txBody>
      </p:sp>
      <p:sp>
        <p:nvSpPr>
          <p:cNvPr id="127" name="Text 11"/>
          <p:cNvSpPr txBox="1"/>
          <p:nvPr/>
        </p:nvSpPr>
        <p:spPr>
          <a:xfrm>
            <a:off x="3520440" y="1889759"/>
            <a:ext cx="2331723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54A24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48.8%</a:t>
            </a:r>
          </a:p>
        </p:txBody>
      </p:sp>
      <p:sp>
        <p:nvSpPr>
          <p:cNvPr id="128" name="Text 12"/>
          <p:cNvSpPr txBox="1"/>
          <p:nvPr/>
        </p:nvSpPr>
        <p:spPr>
          <a:xfrm>
            <a:off x="3566159" y="2527606"/>
            <a:ext cx="2240283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29" name="Text 13"/>
          <p:cNvSpPr txBox="1"/>
          <p:nvPr/>
        </p:nvSpPr>
        <p:spPr>
          <a:xfrm>
            <a:off x="3566159" y="3050977"/>
            <a:ext cx="2240283" cy="66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Balanced Acc: </a:t>
            </a:r>
            <a:r>
              <a:rPr b="1"/>
              <a:t>37.8%</a:t>
            </a: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Macro F1: </a:t>
            </a:r>
            <a:r>
              <a:rPr b="1"/>
              <a:t>0.365</a:t>
            </a:r>
          </a:p>
        </p:txBody>
      </p:sp>
      <p:sp>
        <p:nvSpPr>
          <p:cNvPr id="130" name="Text 14"/>
          <p:cNvSpPr txBox="1"/>
          <p:nvPr/>
        </p:nvSpPr>
        <p:spPr>
          <a:xfrm>
            <a:off x="3566159" y="4025900"/>
            <a:ext cx="2240283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54A24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accuracy (delad)</a:t>
            </a:r>
          </a:p>
        </p:txBody>
      </p:sp>
      <p:sp>
        <p:nvSpPr>
          <p:cNvPr id="131" name="Shape 15"/>
          <p:cNvSpPr/>
          <p:nvPr/>
        </p:nvSpPr>
        <p:spPr>
          <a:xfrm>
            <a:off x="6217920" y="1097277"/>
            <a:ext cx="2606043" cy="356616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sx="100000" sy="100000" kx="0" ky="0" algn="b" rotWithShape="0" blurRad="76200" dist="25400" dir="8100000">
              <a:srgbClr val="000000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2" name="Shape 16"/>
          <p:cNvSpPr/>
          <p:nvPr/>
        </p:nvSpPr>
        <p:spPr>
          <a:xfrm>
            <a:off x="6217920" y="1097280"/>
            <a:ext cx="2606043" cy="64010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33" name="Text 17"/>
          <p:cNvSpPr txBox="1"/>
          <p:nvPr/>
        </p:nvSpPr>
        <p:spPr>
          <a:xfrm>
            <a:off x="6400798" y="1342389"/>
            <a:ext cx="2240283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6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XGBoost stripped</a:t>
            </a:r>
          </a:p>
        </p:txBody>
      </p:sp>
      <p:sp>
        <p:nvSpPr>
          <p:cNvPr id="134" name="Text 18"/>
          <p:cNvSpPr txBox="1"/>
          <p:nvPr/>
        </p:nvSpPr>
        <p:spPr>
          <a:xfrm>
            <a:off x="6355079" y="1889759"/>
            <a:ext cx="2331723" cy="609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42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44.4%</a:t>
            </a:r>
          </a:p>
        </p:txBody>
      </p:sp>
      <p:sp>
        <p:nvSpPr>
          <p:cNvPr id="135" name="Text 19"/>
          <p:cNvSpPr txBox="1"/>
          <p:nvPr/>
        </p:nvSpPr>
        <p:spPr>
          <a:xfrm>
            <a:off x="6400798" y="2527606"/>
            <a:ext cx="2240283" cy="248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accuracy</a:t>
            </a:r>
          </a:p>
        </p:txBody>
      </p:sp>
      <p:sp>
        <p:nvSpPr>
          <p:cNvPr id="136" name="Text 20"/>
          <p:cNvSpPr txBox="1"/>
          <p:nvPr/>
        </p:nvSpPr>
        <p:spPr>
          <a:xfrm>
            <a:off x="6400798" y="3050977"/>
            <a:ext cx="2240283" cy="664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Balanced Acc: </a:t>
            </a:r>
            <a:r>
              <a:rPr b="1"/>
              <a:t>42.0%</a:t>
            </a: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</a:p>
          <a:p>
            <a:pPr algn="ctr">
              <a:defRPr sz="1300">
                <a:latin typeface="+mj-lt"/>
                <a:ea typeface="+mj-ea"/>
                <a:cs typeface="+mj-cs"/>
                <a:sym typeface="Calibri"/>
              </a:defRPr>
            </a:pPr>
            <a:r>
              <a:t>Macro F1: </a:t>
            </a:r>
            <a:r>
              <a:rPr b="1"/>
              <a:t>0.404</a:t>
            </a:r>
          </a:p>
        </p:txBody>
      </p:sp>
      <p:sp>
        <p:nvSpPr>
          <p:cNvPr id="137" name="Text 21"/>
          <p:cNvSpPr txBox="1"/>
          <p:nvPr/>
        </p:nvSpPr>
        <p:spPr>
          <a:xfrm>
            <a:off x="6400798" y="4025900"/>
            <a:ext cx="2240283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200">
                <a:solidFill>
                  <a:srgbClr val="E2B714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Bäst balanced accuracy!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 txBox="1"/>
          <p:nvPr/>
        </p:nvSpPr>
        <p:spPr>
          <a:xfrm>
            <a:off x="548640" y="326387"/>
            <a:ext cx="8229601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1A1A2E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Random Forest — detaljer</a:t>
            </a:r>
          </a:p>
        </p:txBody>
      </p:sp>
      <p:sp>
        <p:nvSpPr>
          <p:cNvPr id="140" name="Text 1"/>
          <p:cNvSpPr txBox="1"/>
          <p:nvPr/>
        </p:nvSpPr>
        <p:spPr>
          <a:xfrm>
            <a:off x="502917" y="779780"/>
            <a:ext cx="4023366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Confusion Matrix</a:t>
            </a:r>
          </a:p>
        </p:txBody>
      </p:sp>
      <p:pic>
        <p:nvPicPr>
          <p:cNvPr id="14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82879" y="1051560"/>
            <a:ext cx="4389124" cy="3657602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xt 2"/>
          <p:cNvSpPr txBox="1"/>
          <p:nvPr/>
        </p:nvSpPr>
        <p:spPr>
          <a:xfrm>
            <a:off x="4800597" y="779780"/>
            <a:ext cx="4023364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1200">
                <a:solidFill>
                  <a:srgbClr val="64748B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Grupperad Permutation Importance</a:t>
            </a:r>
          </a:p>
        </p:txBody>
      </p:sp>
      <p:pic>
        <p:nvPicPr>
          <p:cNvPr id="143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63440" y="1051560"/>
            <a:ext cx="4297683" cy="36576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 txBox="1"/>
          <p:nvPr/>
        </p:nvSpPr>
        <p:spPr>
          <a:xfrm>
            <a:off x="548638" y="372108"/>
            <a:ext cx="5486405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Bildegenskaper — hjälpte det?</a:t>
            </a:r>
          </a:p>
        </p:txBody>
      </p:sp>
      <p:sp>
        <p:nvSpPr>
          <p:cNvPr id="146" name="Text 1"/>
          <p:cNvSpPr txBox="1"/>
          <p:nvPr/>
        </p:nvSpPr>
        <p:spPr>
          <a:xfrm>
            <a:off x="6858000" y="327658"/>
            <a:ext cx="1828800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3600">
                <a:solidFill>
                  <a:srgbClr val="E45756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Nej.</a:t>
            </a:r>
          </a:p>
        </p:txBody>
      </p:sp>
      <p:graphicFrame>
        <p:nvGraphicFramePr>
          <p:cNvPr id="147" name="Table 0"/>
          <p:cNvGraphicFramePr/>
          <p:nvPr/>
        </p:nvGraphicFramePr>
        <p:xfrm>
          <a:off x="548640" y="970280"/>
          <a:ext cx="5029201" cy="3785126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86000"/>
                <a:gridCol w="1371600"/>
                <a:gridCol w="1371600"/>
              </a:tblGrid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Modellvariant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Bal. Acc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6213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(tabell)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48.8%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40.5%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(tabell +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35.6%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27.0%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LogReg (enbart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14.6%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9.1%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254654"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(tabell)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46.3%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38.7%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(tabell +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35.1%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21.7%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XGBoost (enbart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17.1%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10.0%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Random Forest (tabell)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48.8%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54A24B"/>
                          </a:solidFill>
                        </a:rPr>
                        <a:t>37.8%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Random Forest (tabell +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37.1%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F58518"/>
                          </a:solidFill>
                        </a:rPr>
                        <a:t>21.3%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  <a:tr h="32095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FFFFFF"/>
                          </a:solidFill>
                        </a:rPr>
                        <a:t>Random Forest (enbart bild)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19.5%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E45756"/>
                          </a:solidFill>
                        </a:rPr>
                        <a:t>9.7%</a:t>
                      </a:r>
                    </a:p>
                  </a:txBody>
                  <a:tcPr marL="45720" marR="45720" marT="45720" marB="45720" anchor="t" anchorCtr="0" horzOverflow="overflow">
                    <a:lnL w="6350">
                      <a:solidFill>
                        <a:srgbClr val="2A2A4A"/>
                      </a:solidFill>
                    </a:lnL>
                    <a:lnR w="6350">
                      <a:solidFill>
                        <a:srgbClr val="2A2A4A"/>
                      </a:solidFill>
                    </a:lnR>
                    <a:lnT w="6350">
                      <a:solidFill>
                        <a:srgbClr val="2A2A4A"/>
                      </a:solidFill>
                    </a:lnT>
                    <a:lnB w="6350">
                      <a:solidFill>
                        <a:srgbClr val="2A2A4A"/>
                      </a:solidFill>
                    </a:lnB>
                    <a:solidFill>
                      <a:srgbClr val="1A1A2E"/>
                    </a:solidFill>
                  </a:tcPr>
                </a:tc>
              </a:tr>
            </a:tbl>
          </a:graphicData>
        </a:graphic>
      </p:graphicFrame>
      <p:sp>
        <p:nvSpPr>
          <p:cNvPr id="148" name="Text 2"/>
          <p:cNvSpPr txBox="1"/>
          <p:nvPr/>
        </p:nvSpPr>
        <p:spPr>
          <a:xfrm>
            <a:off x="594358" y="4761503"/>
            <a:ext cx="4937764" cy="2878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sz="1200">
                <a:solidFill>
                  <a:srgbClr val="54A24B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■ </a:t>
            </a:r>
            <a:r>
              <a:rPr sz="1100">
                <a:solidFill>
                  <a:srgbClr val="94A3B8"/>
                </a:solidFill>
              </a:rPr>
              <a:t>Bättre   </a:t>
            </a:r>
            <a:r>
              <a:rPr>
                <a:solidFill>
                  <a:srgbClr val="F58518"/>
                </a:solidFill>
              </a:rPr>
              <a:t>■ </a:t>
            </a:r>
            <a:r>
              <a:rPr sz="1100">
                <a:solidFill>
                  <a:srgbClr val="94A3B8"/>
                </a:solidFill>
              </a:rPr>
              <a:t>Sämre   </a:t>
            </a:r>
            <a:r>
              <a:rPr>
                <a:solidFill>
                  <a:srgbClr val="E45756"/>
                </a:solidFill>
              </a:rPr>
              <a:t>■ </a:t>
            </a:r>
            <a:r>
              <a:rPr sz="1100">
                <a:solidFill>
                  <a:srgbClr val="94A3B8"/>
                </a:solidFill>
              </a:rPr>
              <a:t>Mycket sämre</a:t>
            </a:r>
          </a:p>
        </p:txBody>
      </p:sp>
      <p:sp>
        <p:nvSpPr>
          <p:cNvPr id="149" name="Shape 3"/>
          <p:cNvSpPr/>
          <p:nvPr/>
        </p:nvSpPr>
        <p:spPr>
          <a:xfrm>
            <a:off x="5852159" y="970280"/>
            <a:ext cx="3017523" cy="3063240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0" name="Shape 4"/>
          <p:cNvSpPr/>
          <p:nvPr/>
        </p:nvSpPr>
        <p:spPr>
          <a:xfrm>
            <a:off x="5852159" y="1097280"/>
            <a:ext cx="54867" cy="3063240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1" name="Text 5"/>
          <p:cNvSpPr txBox="1"/>
          <p:nvPr/>
        </p:nvSpPr>
        <p:spPr>
          <a:xfrm>
            <a:off x="6172198" y="1153160"/>
            <a:ext cx="2468883" cy="2493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Varför?</a:t>
            </a:r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Sprite-pixlar kodar visuell design — inte typinformation.</a:t>
            </a:r>
            <a:endParaRPr sz="1600"/>
          </a:p>
          <a:p>
            <a:pPr>
              <a:defRPr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En blå Water-typ och en blå Flying-typ ser likadana ut som pixelvektorer.</a:t>
            </a:r>
            <a:endParaRPr sz="1600"/>
          </a:p>
          <a:p>
            <a:pPr>
              <a:defRPr sz="16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defRPr b="1"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Bildegenskaper introducerar brus som försämrar alla modeller.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 txBox="1"/>
          <p:nvPr/>
        </p:nvSpPr>
        <p:spPr>
          <a:xfrm>
            <a:off x="548640" y="327658"/>
            <a:ext cx="82296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6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Slutsatser</a:t>
            </a:r>
          </a:p>
        </p:txBody>
      </p:sp>
      <p:sp>
        <p:nvSpPr>
          <p:cNvPr id="154" name="Shape 1"/>
          <p:cNvSpPr/>
          <p:nvPr/>
        </p:nvSpPr>
        <p:spPr>
          <a:xfrm>
            <a:off x="548640" y="1051560"/>
            <a:ext cx="8046719" cy="91440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5" name="Shape 2"/>
          <p:cNvSpPr/>
          <p:nvPr/>
        </p:nvSpPr>
        <p:spPr>
          <a:xfrm>
            <a:off x="548640" y="1051560"/>
            <a:ext cx="73155" cy="914403"/>
          </a:xfrm>
          <a:prstGeom prst="rect">
            <a:avLst/>
          </a:prstGeom>
          <a:solidFill>
            <a:srgbClr val="54A24B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6" name="Text 3"/>
          <p:cNvSpPr txBox="1"/>
          <p:nvPr/>
        </p:nvSpPr>
        <p:spPr>
          <a:xfrm>
            <a:off x="914399" y="1105660"/>
            <a:ext cx="7406641" cy="3581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Typ kan delvis förutsägas</a:t>
            </a:r>
          </a:p>
        </p:txBody>
      </p:sp>
      <p:sp>
        <p:nvSpPr>
          <p:cNvPr id="157" name="Text 4"/>
          <p:cNvSpPr txBox="1"/>
          <p:nvPr/>
        </p:nvSpPr>
        <p:spPr>
          <a:xfrm>
            <a:off x="914399" y="1438078"/>
            <a:ext cx="740664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Nästan 49% accuracy mot 5.6% chans. Modellerna hittar meningsfulla mönster men 18 klasser med stor obalans sätter ett tydligt tak.</a:t>
            </a:r>
          </a:p>
        </p:txBody>
      </p:sp>
      <p:sp>
        <p:nvSpPr>
          <p:cNvPr id="158" name="Shape 5"/>
          <p:cNvSpPr/>
          <p:nvPr/>
        </p:nvSpPr>
        <p:spPr>
          <a:xfrm>
            <a:off x="548640" y="2148839"/>
            <a:ext cx="8046719" cy="914401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59" name="Shape 6"/>
          <p:cNvSpPr/>
          <p:nvPr/>
        </p:nvSpPr>
        <p:spPr>
          <a:xfrm>
            <a:off x="548640" y="2148839"/>
            <a:ext cx="73155" cy="914401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0" name="Text 7"/>
          <p:cNvSpPr txBox="1"/>
          <p:nvPr/>
        </p:nvSpPr>
        <p:spPr>
          <a:xfrm>
            <a:off x="914399" y="2202943"/>
            <a:ext cx="7406641" cy="3581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Ekologi &gt; Stridsstyrka</a:t>
            </a:r>
          </a:p>
        </p:txBody>
      </p:sp>
      <p:sp>
        <p:nvSpPr>
          <p:cNvPr id="161" name="Text 8"/>
          <p:cNvSpPr txBox="1"/>
          <p:nvPr/>
        </p:nvSpPr>
        <p:spPr>
          <a:xfrm>
            <a:off x="914399" y="2535359"/>
            <a:ext cx="7406641" cy="461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Color, shape, habitat och growth_rate är de starkast förutsägande egenskaperna. Battle stats (HP, Attack, etc.) bidrar förvånansvärt lite.</a:t>
            </a:r>
          </a:p>
        </p:txBody>
      </p:sp>
      <p:sp>
        <p:nvSpPr>
          <p:cNvPr id="162" name="Shape 9"/>
          <p:cNvSpPr/>
          <p:nvPr/>
        </p:nvSpPr>
        <p:spPr>
          <a:xfrm>
            <a:off x="548640" y="3246120"/>
            <a:ext cx="8046719" cy="91440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3" name="Shape 10"/>
          <p:cNvSpPr/>
          <p:nvPr/>
        </p:nvSpPr>
        <p:spPr>
          <a:xfrm>
            <a:off x="548640" y="3246120"/>
            <a:ext cx="73155" cy="914403"/>
          </a:xfrm>
          <a:prstGeom prst="rect">
            <a:avLst/>
          </a:prstGeom>
          <a:solidFill>
            <a:srgbClr val="E457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4" name="Text 11"/>
          <p:cNvSpPr txBox="1"/>
          <p:nvPr/>
        </p:nvSpPr>
        <p:spPr>
          <a:xfrm>
            <a:off x="914399" y="3300221"/>
            <a:ext cx="7406641" cy="3581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</a:lstStyle>
          <a:p>
            <a:pPr/>
            <a:r>
              <a:t>Bilder tillför inget</a:t>
            </a:r>
          </a:p>
        </p:txBody>
      </p:sp>
      <p:sp>
        <p:nvSpPr>
          <p:cNvPr id="165" name="Text 12"/>
          <p:cNvSpPr txBox="1"/>
          <p:nvPr/>
        </p:nvSpPr>
        <p:spPr>
          <a:xfrm>
            <a:off x="914399" y="3734239"/>
            <a:ext cx="7406641" cy="2581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3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Alla bild-varianter presterar sämre. Image-only-modeller når cirka 10% (nära slumpartat).</a:t>
            </a:r>
          </a:p>
        </p:txBody>
      </p:sp>
      <p:sp>
        <p:nvSpPr>
          <p:cNvPr id="166" name="Shape 13"/>
          <p:cNvSpPr/>
          <p:nvPr/>
        </p:nvSpPr>
        <p:spPr>
          <a:xfrm>
            <a:off x="548640" y="4160520"/>
            <a:ext cx="8046719" cy="640083"/>
          </a:xfrm>
          <a:prstGeom prst="rect">
            <a:avLst/>
          </a:prstGeom>
          <a:solidFill>
            <a:srgbClr val="16213E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7" name="Shape 14"/>
          <p:cNvSpPr/>
          <p:nvPr/>
        </p:nvSpPr>
        <p:spPr>
          <a:xfrm>
            <a:off x="548640" y="4160520"/>
            <a:ext cx="73155" cy="640083"/>
          </a:xfrm>
          <a:prstGeom prst="rect">
            <a:avLst/>
          </a:prstGeom>
          <a:solidFill>
            <a:srgbClr val="E2B714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68" name="Text 15"/>
          <p:cNvSpPr txBox="1"/>
          <p:nvPr/>
        </p:nvSpPr>
        <p:spPr>
          <a:xfrm>
            <a:off x="914399" y="4237158"/>
            <a:ext cx="7406641" cy="486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b="1" sz="1400">
                <a:solidFill>
                  <a:srgbClr val="E2B714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Rekommendation till Neintindo: </a:t>
            </a:r>
            <a:r>
              <a:rPr b="0" sz="1300">
                <a:solidFill>
                  <a:srgbClr val="FFFFFF"/>
                </a:solidFill>
              </a:rPr>
              <a:t>Typernas ekologiska mönster är tydliga, men stridsegenskaperna är inte distinkta nog. Överväg att särskilja egenskaperna mer mellan typerna och inte individuella Mockemon.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